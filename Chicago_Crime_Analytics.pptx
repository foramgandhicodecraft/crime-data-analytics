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  <p:embeddedFont>
      <p:font typeface="Calibri (MS) Italics" charset="1" panose="020F05020202040A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2697" cy="10299697"/>
            <a:chOff x="0" y="0"/>
            <a:chExt cx="1692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9567" y="-6353"/>
            <a:ext cx="12697" cy="10299697"/>
            <a:chOff x="0" y="0"/>
            <a:chExt cx="16929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285487" y="-6353"/>
            <a:ext cx="12697" cy="10299697"/>
            <a:chOff x="0" y="0"/>
            <a:chExt cx="16929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31407" y="-6353"/>
            <a:ext cx="12697" cy="10299697"/>
            <a:chOff x="0" y="0"/>
            <a:chExt cx="16929" cy="13732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77327" y="-6353"/>
            <a:ext cx="12697" cy="10299697"/>
            <a:chOff x="0" y="0"/>
            <a:chExt cx="16929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3247" y="-6353"/>
            <a:ext cx="12697" cy="10299697"/>
            <a:chOff x="0" y="0"/>
            <a:chExt cx="16929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869167" y="-6353"/>
            <a:ext cx="12697" cy="10299697"/>
            <a:chOff x="0" y="0"/>
            <a:chExt cx="16929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515087" y="-6353"/>
            <a:ext cx="12697" cy="10299697"/>
            <a:chOff x="0" y="0"/>
            <a:chExt cx="16929" cy="137329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161007" y="-6353"/>
            <a:ext cx="12697" cy="10299697"/>
            <a:chOff x="0" y="0"/>
            <a:chExt cx="16929" cy="137329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806927" y="-6353"/>
            <a:ext cx="12697" cy="10299697"/>
            <a:chOff x="0" y="0"/>
            <a:chExt cx="16929" cy="137329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452847" y="-6353"/>
            <a:ext cx="12697" cy="10299697"/>
            <a:chOff x="0" y="0"/>
            <a:chExt cx="16929" cy="137329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8098767" y="-6353"/>
            <a:ext cx="12697" cy="10299697"/>
            <a:chOff x="0" y="0"/>
            <a:chExt cx="16929" cy="137329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6353" y="-6353"/>
            <a:ext cx="18300697" cy="12697"/>
            <a:chOff x="0" y="0"/>
            <a:chExt cx="24400929" cy="169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-6353" y="1639567"/>
            <a:ext cx="18300697" cy="12697"/>
            <a:chOff x="0" y="0"/>
            <a:chExt cx="24400929" cy="169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-6353" y="3285487"/>
            <a:ext cx="18300697" cy="12697"/>
            <a:chOff x="0" y="0"/>
            <a:chExt cx="24400929" cy="169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6353" y="4931407"/>
            <a:ext cx="18300697" cy="12697"/>
            <a:chOff x="0" y="0"/>
            <a:chExt cx="24400929" cy="1692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-6353" y="6577327"/>
            <a:ext cx="18300697" cy="12697"/>
            <a:chOff x="0" y="0"/>
            <a:chExt cx="24400929" cy="169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-6353" y="8223247"/>
            <a:ext cx="18300697" cy="12697"/>
            <a:chOff x="0" y="0"/>
            <a:chExt cx="24400929" cy="1692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-6353" y="9869167"/>
            <a:ext cx="18300697" cy="12697"/>
            <a:chOff x="0" y="0"/>
            <a:chExt cx="24400929" cy="1692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8509" y="0"/>
              <a:ext cx="24384001" cy="16891"/>
            </a:xfrm>
            <a:custGeom>
              <a:avLst/>
              <a:gdLst/>
              <a:ahLst/>
              <a:cxnLst/>
              <a:rect r="r" b="b" t="t" l="l"/>
              <a:pathLst>
                <a:path h="1689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84583" y="2364743"/>
            <a:ext cx="135131" cy="4597403"/>
            <a:chOff x="0" y="0"/>
            <a:chExt cx="180175" cy="61298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146304" cy="6096000"/>
            </a:xfrm>
            <a:custGeom>
              <a:avLst/>
              <a:gdLst/>
              <a:ahLst/>
              <a:cxnLst/>
              <a:rect r="r" b="b" t="t" l="l"/>
              <a:pathLst>
                <a:path h="609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0086" cy="6129782"/>
            </a:xfrm>
            <a:custGeom>
              <a:avLst/>
              <a:gdLst/>
              <a:ahLst/>
              <a:cxnLst/>
              <a:rect r="r" b="b" t="t" l="l"/>
              <a:pathLst>
                <a:path h="61297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6112891"/>
                  </a:lnTo>
                  <a:cubicBezTo>
                    <a:pt x="180086" y="6122289"/>
                    <a:pt x="172466" y="6129782"/>
                    <a:pt x="163195" y="6129782"/>
                  </a:cubicBezTo>
                  <a:lnTo>
                    <a:pt x="16891" y="6129782"/>
                  </a:lnTo>
                  <a:cubicBezTo>
                    <a:pt x="7493" y="6129782"/>
                    <a:pt x="0" y="6122162"/>
                    <a:pt x="0" y="6112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12891"/>
                  </a:lnTo>
                  <a:lnTo>
                    <a:pt x="16891" y="6112891"/>
                  </a:lnTo>
                  <a:lnTo>
                    <a:pt x="16891" y="6096000"/>
                  </a:lnTo>
                  <a:lnTo>
                    <a:pt x="163195" y="6096000"/>
                  </a:lnTo>
                  <a:lnTo>
                    <a:pt x="163195" y="6112891"/>
                  </a:lnTo>
                  <a:lnTo>
                    <a:pt x="146304" y="61128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54480" y="2377440"/>
            <a:ext cx="15544800" cy="1554480"/>
            <a:chOff x="0" y="0"/>
            <a:chExt cx="20726400" cy="2072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7264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61925"/>
              <a:ext cx="20726400" cy="2234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Crime Data Analytics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54480" y="3931920"/>
            <a:ext cx="15544800" cy="1188720"/>
            <a:chOff x="0" y="0"/>
            <a:chExt cx="20726400" cy="1584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7264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04775"/>
              <a:ext cx="2072640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>
                  <a:solidFill>
                    <a:srgbClr val="14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Chicago Crime Dataset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41783" y="5290823"/>
            <a:ext cx="3317243" cy="610619"/>
            <a:chOff x="0" y="0"/>
            <a:chExt cx="4422991" cy="81415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422902" cy="814072"/>
            </a:xfrm>
            <a:custGeom>
              <a:avLst/>
              <a:gdLst/>
              <a:ahLst/>
              <a:cxnLst/>
              <a:rect r="r" b="b" t="t" l="l"/>
              <a:pathLst>
                <a:path h="814072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797179"/>
                  </a:lnTo>
                  <a:cubicBezTo>
                    <a:pt x="4422902" y="806577"/>
                    <a:pt x="4415282" y="814070"/>
                    <a:pt x="44060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4406011" y="780288"/>
                  </a:lnTo>
                  <a:lnTo>
                    <a:pt x="4406011" y="797179"/>
                  </a:lnTo>
                  <a:lnTo>
                    <a:pt x="4389120" y="797179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54480" y="5303520"/>
            <a:ext cx="3291840" cy="585216"/>
            <a:chOff x="0" y="0"/>
            <a:chExt cx="4389120" cy="780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389120" cy="780288"/>
            </a:xfrm>
            <a:custGeom>
              <a:avLst/>
              <a:gdLst/>
              <a:ahLst/>
              <a:cxnLst/>
              <a:rect r="r" b="b" t="t" l="l"/>
              <a:pathLst>
                <a:path h="78028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389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SCIENCE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874503" y="2181863"/>
            <a:ext cx="5694683" cy="6426203"/>
            <a:chOff x="0" y="0"/>
            <a:chExt cx="7592911" cy="856827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7559040" cy="8534400"/>
            </a:xfrm>
            <a:custGeom>
              <a:avLst/>
              <a:gdLst/>
              <a:ahLst/>
              <a:cxnLst/>
              <a:rect r="r" b="b" t="t" l="l"/>
              <a:pathLst>
                <a:path h="85344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162032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592822" cy="8568182"/>
            </a:xfrm>
            <a:custGeom>
              <a:avLst/>
              <a:gdLst/>
              <a:ahLst/>
              <a:cxnLst/>
              <a:rect r="r" b="b" t="t" l="l"/>
              <a:pathLst>
                <a:path h="856818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8551291"/>
                  </a:lnTo>
                  <a:cubicBezTo>
                    <a:pt x="7592822" y="8560689"/>
                    <a:pt x="7585202" y="8568182"/>
                    <a:pt x="7575931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7575931" y="8534400"/>
                  </a:lnTo>
                  <a:lnTo>
                    <a:pt x="7575931" y="8551291"/>
                  </a:lnTo>
                  <a:lnTo>
                    <a:pt x="7559040" y="855129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887200" y="2286000"/>
            <a:ext cx="5669280" cy="731520"/>
            <a:chOff x="0" y="0"/>
            <a:chExt cx="7559040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559040" cy="975360"/>
            </a:xfrm>
            <a:custGeom>
              <a:avLst/>
              <a:gdLst/>
              <a:ahLst/>
              <a:cxnLst/>
              <a:rect r="r" b="b" t="t" l="l"/>
              <a:pathLst>
                <a:path h="9753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75590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Members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161520" y="3108960"/>
            <a:ext cx="5120640" cy="731520"/>
            <a:chOff x="0" y="0"/>
            <a:chExt cx="6827520" cy="9753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6827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Foram Gandhi</a:t>
              </a:r>
              <a:r>
                <a:rPr lang="en-US" sz="21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U23CS032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161520" y="4059936"/>
            <a:ext cx="5120640" cy="731520"/>
            <a:chOff x="0" y="0"/>
            <a:chExt cx="6827520" cy="9753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6827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Bhumika Patil</a:t>
              </a:r>
              <a:r>
                <a:rPr lang="en-US" sz="21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U23CS046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161520" y="5010912"/>
            <a:ext cx="5120640" cy="731520"/>
            <a:chOff x="0" y="0"/>
            <a:chExt cx="6827520" cy="9753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6827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Nirmeet Parmar</a:t>
              </a:r>
              <a:r>
                <a:rPr lang="en-US" sz="21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U23CS047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161520" y="5961888"/>
            <a:ext cx="5120640" cy="731520"/>
            <a:chOff x="0" y="0"/>
            <a:chExt cx="6827520" cy="9753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6827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Harsh Parmar</a:t>
              </a:r>
              <a:r>
                <a:rPr lang="en-US" sz="21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U23CS056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161520" y="6912864"/>
            <a:ext cx="5120640" cy="731520"/>
            <a:chOff x="0" y="0"/>
            <a:chExt cx="6827520" cy="9753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6827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Krishna Chhipa</a:t>
              </a:r>
              <a:r>
                <a:rPr lang="en-US" sz="21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U23CS075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97280" y="9326880"/>
            <a:ext cx="16093440" cy="548640"/>
            <a:chOff x="0" y="0"/>
            <a:chExt cx="2145792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SVNIT Surat  ·  B.Tech 3rd Year, 6th Semester  ·  2025–2026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07840" y="274320"/>
            <a:ext cx="914400" cy="548640"/>
            <a:chOff x="0" y="0"/>
            <a:chExt cx="12192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&amp; Motivation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1596647"/>
            <a:ext cx="16484603" cy="25403"/>
            <a:chOff x="0" y="0"/>
            <a:chExt cx="2197947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4875" y="2002155"/>
            <a:ext cx="8065770" cy="3036570"/>
            <a:chOff x="0" y="0"/>
            <a:chExt cx="10754360" cy="4048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107289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5436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754360">
                  <a:moveTo>
                    <a:pt x="12700" y="0"/>
                  </a:moveTo>
                  <a:lnTo>
                    <a:pt x="10741660" y="0"/>
                  </a:lnTo>
                  <a:cubicBezTo>
                    <a:pt x="10748645" y="0"/>
                    <a:pt x="10754360" y="5715"/>
                    <a:pt x="10754360" y="12700"/>
                  </a:cubicBezTo>
                  <a:lnTo>
                    <a:pt x="10754360" y="4036060"/>
                  </a:lnTo>
                  <a:cubicBezTo>
                    <a:pt x="10754360" y="4043045"/>
                    <a:pt x="10748645" y="4048760"/>
                    <a:pt x="1074166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10741660" y="4023360"/>
                  </a:lnTo>
                  <a:lnTo>
                    <a:pt x="10741660" y="4036060"/>
                  </a:lnTo>
                  <a:lnTo>
                    <a:pt x="10728960" y="4036060"/>
                  </a:lnTo>
                  <a:lnTo>
                    <a:pt x="10728960" y="12700"/>
                  </a:lnTo>
                  <a:lnTo>
                    <a:pt x="10741660" y="12700"/>
                  </a:lnTo>
                  <a:lnTo>
                    <a:pt x="10741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1703" y="1998983"/>
            <a:ext cx="8072123" cy="153419"/>
            <a:chOff x="0" y="0"/>
            <a:chExt cx="10762831" cy="2045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0728960" cy="170688"/>
            </a:xfrm>
            <a:custGeom>
              <a:avLst/>
              <a:gdLst/>
              <a:ahLst/>
              <a:cxnLst/>
              <a:rect r="r" b="b" t="t" l="l"/>
              <a:pathLst>
                <a:path h="17068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62742" cy="204472"/>
            </a:xfrm>
            <a:custGeom>
              <a:avLst/>
              <a:gdLst/>
              <a:ahLst/>
              <a:cxnLst/>
              <a:rect r="r" b="b" t="t" l="l"/>
              <a:pathLst>
                <a:path h="20447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87579"/>
                  </a:lnTo>
                  <a:cubicBezTo>
                    <a:pt x="10762742" y="196977"/>
                    <a:pt x="10755122" y="204470"/>
                    <a:pt x="107458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0745851" y="170688"/>
                  </a:lnTo>
                  <a:lnTo>
                    <a:pt x="10745851" y="187579"/>
                  </a:lnTo>
                  <a:lnTo>
                    <a:pt x="10728960" y="1875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43584" y="2231136"/>
            <a:ext cx="7315200" cy="640080"/>
            <a:chOff x="0" y="0"/>
            <a:chExt cx="975360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Crime ≠ Random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43584" y="2926080"/>
            <a:ext cx="7406640" cy="1645920"/>
            <a:chOff x="0" y="0"/>
            <a:chExt cx="9875520" cy="2194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875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87552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Behind every incident is a pattern — a neighbourhood, a time, a type that clusters predictably.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08795" y="2002155"/>
            <a:ext cx="8065770" cy="3036570"/>
            <a:chOff x="0" y="0"/>
            <a:chExt cx="10754360" cy="4048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2700" y="12700"/>
              <a:ext cx="107289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5436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754360">
                  <a:moveTo>
                    <a:pt x="12700" y="0"/>
                  </a:moveTo>
                  <a:lnTo>
                    <a:pt x="10741660" y="0"/>
                  </a:lnTo>
                  <a:cubicBezTo>
                    <a:pt x="10748645" y="0"/>
                    <a:pt x="10754360" y="5715"/>
                    <a:pt x="10754360" y="12700"/>
                  </a:cubicBezTo>
                  <a:lnTo>
                    <a:pt x="10754360" y="4036060"/>
                  </a:lnTo>
                  <a:cubicBezTo>
                    <a:pt x="10754360" y="4043045"/>
                    <a:pt x="10748645" y="4048760"/>
                    <a:pt x="1074166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10741660" y="4023360"/>
                  </a:lnTo>
                  <a:lnTo>
                    <a:pt x="10741660" y="4036060"/>
                  </a:lnTo>
                  <a:lnTo>
                    <a:pt x="10728960" y="4036060"/>
                  </a:lnTo>
                  <a:lnTo>
                    <a:pt x="10728960" y="12700"/>
                  </a:lnTo>
                  <a:lnTo>
                    <a:pt x="10741660" y="12700"/>
                  </a:lnTo>
                  <a:lnTo>
                    <a:pt x="10741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405623" y="1998983"/>
            <a:ext cx="8072123" cy="153419"/>
            <a:chOff x="0" y="0"/>
            <a:chExt cx="10762831" cy="20455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0728960" cy="170688"/>
            </a:xfrm>
            <a:custGeom>
              <a:avLst/>
              <a:gdLst/>
              <a:ahLst/>
              <a:cxnLst/>
              <a:rect r="r" b="b" t="t" l="l"/>
              <a:pathLst>
                <a:path h="17068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62742" cy="204472"/>
            </a:xfrm>
            <a:custGeom>
              <a:avLst/>
              <a:gdLst/>
              <a:ahLst/>
              <a:cxnLst/>
              <a:rect r="r" b="b" t="t" l="l"/>
              <a:pathLst>
                <a:path h="20447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87579"/>
                  </a:lnTo>
                  <a:cubicBezTo>
                    <a:pt x="10762742" y="196977"/>
                    <a:pt x="10755122" y="204470"/>
                    <a:pt x="107458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0745851" y="170688"/>
                  </a:lnTo>
                  <a:lnTo>
                    <a:pt x="10745851" y="187579"/>
                  </a:lnTo>
                  <a:lnTo>
                    <a:pt x="10728960" y="1875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747504" y="2231136"/>
            <a:ext cx="7315200" cy="640080"/>
            <a:chOff x="0" y="0"/>
            <a:chExt cx="975360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Overload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747504" y="2926080"/>
            <a:ext cx="7406640" cy="1645920"/>
            <a:chOff x="0" y="0"/>
            <a:chExt cx="9875520" cy="21945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875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87552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Chicago has 7.8M+ raw crime records. Manual analysis is impossible at this scale.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04875" y="5385435"/>
            <a:ext cx="8065770" cy="3036570"/>
            <a:chOff x="0" y="0"/>
            <a:chExt cx="10754360" cy="40487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00" y="12700"/>
              <a:ext cx="107289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5436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754360">
                  <a:moveTo>
                    <a:pt x="12700" y="0"/>
                  </a:moveTo>
                  <a:lnTo>
                    <a:pt x="10741660" y="0"/>
                  </a:lnTo>
                  <a:cubicBezTo>
                    <a:pt x="10748645" y="0"/>
                    <a:pt x="10754360" y="5715"/>
                    <a:pt x="10754360" y="12700"/>
                  </a:cubicBezTo>
                  <a:lnTo>
                    <a:pt x="10754360" y="4036060"/>
                  </a:lnTo>
                  <a:cubicBezTo>
                    <a:pt x="10754360" y="4043045"/>
                    <a:pt x="10748645" y="4048760"/>
                    <a:pt x="1074166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10741660" y="4023360"/>
                  </a:lnTo>
                  <a:lnTo>
                    <a:pt x="10741660" y="4036060"/>
                  </a:lnTo>
                  <a:lnTo>
                    <a:pt x="10728960" y="4036060"/>
                  </a:lnTo>
                  <a:lnTo>
                    <a:pt x="10728960" y="12700"/>
                  </a:lnTo>
                  <a:lnTo>
                    <a:pt x="10741660" y="12700"/>
                  </a:lnTo>
                  <a:lnTo>
                    <a:pt x="10741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01703" y="5382263"/>
            <a:ext cx="8072123" cy="153419"/>
            <a:chOff x="0" y="0"/>
            <a:chExt cx="10762831" cy="20455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0728960" cy="170688"/>
            </a:xfrm>
            <a:custGeom>
              <a:avLst/>
              <a:gdLst/>
              <a:ahLst/>
              <a:cxnLst/>
              <a:rect r="r" b="b" t="t" l="l"/>
              <a:pathLst>
                <a:path h="17068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62742" cy="204472"/>
            </a:xfrm>
            <a:custGeom>
              <a:avLst/>
              <a:gdLst/>
              <a:ahLst/>
              <a:cxnLst/>
              <a:rect r="r" b="b" t="t" l="l"/>
              <a:pathLst>
                <a:path h="20447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87579"/>
                  </a:lnTo>
                  <a:cubicBezTo>
                    <a:pt x="10762742" y="196977"/>
                    <a:pt x="10755122" y="204470"/>
                    <a:pt x="107458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0745851" y="170688"/>
                  </a:lnTo>
                  <a:lnTo>
                    <a:pt x="10745851" y="187579"/>
                  </a:lnTo>
                  <a:lnTo>
                    <a:pt x="10728960" y="1875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43584" y="5614416"/>
            <a:ext cx="7315200" cy="640080"/>
            <a:chOff x="0" y="0"/>
            <a:chExt cx="975360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Resource Allocation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43584" y="6309360"/>
            <a:ext cx="7406640" cy="1645920"/>
            <a:chOff x="0" y="0"/>
            <a:chExt cx="9875520" cy="21945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875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87552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Hotspot maps help deploy limited patrol resources where they matter most.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08795" y="5385435"/>
            <a:ext cx="8065770" cy="3036570"/>
            <a:chOff x="0" y="0"/>
            <a:chExt cx="10754360" cy="40487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2700" y="12700"/>
              <a:ext cx="107289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5436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754360">
                  <a:moveTo>
                    <a:pt x="12700" y="0"/>
                  </a:moveTo>
                  <a:lnTo>
                    <a:pt x="10741660" y="0"/>
                  </a:lnTo>
                  <a:cubicBezTo>
                    <a:pt x="10748645" y="0"/>
                    <a:pt x="10754360" y="5715"/>
                    <a:pt x="10754360" y="12700"/>
                  </a:cubicBezTo>
                  <a:lnTo>
                    <a:pt x="10754360" y="4036060"/>
                  </a:lnTo>
                  <a:cubicBezTo>
                    <a:pt x="10754360" y="4043045"/>
                    <a:pt x="10748645" y="4048760"/>
                    <a:pt x="1074166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10741660" y="4023360"/>
                  </a:lnTo>
                  <a:lnTo>
                    <a:pt x="10741660" y="4036060"/>
                  </a:lnTo>
                  <a:lnTo>
                    <a:pt x="10728960" y="4036060"/>
                  </a:lnTo>
                  <a:lnTo>
                    <a:pt x="10728960" y="12700"/>
                  </a:lnTo>
                  <a:lnTo>
                    <a:pt x="10741660" y="12700"/>
                  </a:lnTo>
                  <a:lnTo>
                    <a:pt x="10741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405623" y="5382263"/>
            <a:ext cx="8072123" cy="153419"/>
            <a:chOff x="0" y="0"/>
            <a:chExt cx="10762831" cy="20455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0728960" cy="170688"/>
            </a:xfrm>
            <a:custGeom>
              <a:avLst/>
              <a:gdLst/>
              <a:ahLst/>
              <a:cxnLst/>
              <a:rect r="r" b="b" t="t" l="l"/>
              <a:pathLst>
                <a:path h="17068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762742" cy="204472"/>
            </a:xfrm>
            <a:custGeom>
              <a:avLst/>
              <a:gdLst/>
              <a:ahLst/>
              <a:cxnLst/>
              <a:rect r="r" b="b" t="t" l="l"/>
              <a:pathLst>
                <a:path h="20447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87579"/>
                  </a:lnTo>
                  <a:cubicBezTo>
                    <a:pt x="10762742" y="196977"/>
                    <a:pt x="10755122" y="204470"/>
                    <a:pt x="1074585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0745851" y="170688"/>
                  </a:lnTo>
                  <a:lnTo>
                    <a:pt x="10745851" y="187579"/>
                  </a:lnTo>
                  <a:lnTo>
                    <a:pt x="10728960" y="18757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747504" y="5614416"/>
            <a:ext cx="7315200" cy="640080"/>
            <a:chOff x="0" y="0"/>
            <a:chExt cx="9753600" cy="853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Smarter Scheduling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747504" y="6309360"/>
            <a:ext cx="7406640" cy="1645920"/>
            <a:chOff x="0" y="0"/>
            <a:chExt cx="9875520" cy="21945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875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987552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Temporal rhythms — by hour, day, season — can reshape patrol shift planning.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01703" y="8674103"/>
            <a:ext cx="16484603" cy="1122683"/>
            <a:chOff x="0" y="0"/>
            <a:chExt cx="21979471" cy="149691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2194559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79382" cy="1496822"/>
            </a:xfrm>
            <a:custGeom>
              <a:avLst/>
              <a:gdLst/>
              <a:ahLst/>
              <a:cxnLst/>
              <a:rect r="r" b="b" t="t" l="l"/>
              <a:pathLst>
                <a:path h="149682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479931"/>
                  </a:lnTo>
                  <a:cubicBezTo>
                    <a:pt x="21979382" y="1489329"/>
                    <a:pt x="21971763" y="1496822"/>
                    <a:pt x="21962490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21962490" y="1463040"/>
                  </a:lnTo>
                  <a:lnTo>
                    <a:pt x="21962490" y="1479931"/>
                  </a:lnTo>
                  <a:lnTo>
                    <a:pt x="21945600" y="147993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14400" y="8686800"/>
            <a:ext cx="16459200" cy="1097280"/>
            <a:chOff x="0" y="0"/>
            <a:chExt cx="21945600" cy="14630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19456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Questions:  Which crime types dominate?  ·  Are there temporal rhythms?  ·  Where are the hotspots?  ·  Can we predict arrests?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07840" y="274320"/>
            <a:ext cx="914400" cy="548640"/>
            <a:chOff x="0" y="0"/>
            <a:chExt cx="12192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Description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1596647"/>
            <a:ext cx="16484603" cy="25403"/>
            <a:chOff x="0" y="0"/>
            <a:chExt cx="2197947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1703" y="1816103"/>
            <a:ext cx="5146043" cy="2494283"/>
            <a:chOff x="0" y="0"/>
            <a:chExt cx="6861391" cy="33257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68275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62032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61301" cy="3325622"/>
            </a:xfrm>
            <a:custGeom>
              <a:avLst/>
              <a:gdLst/>
              <a:ahLst/>
              <a:cxnLst/>
              <a:rect r="r" b="b" t="t" l="l"/>
              <a:pathLst>
                <a:path h="332562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3308731"/>
                  </a:lnTo>
                  <a:cubicBezTo>
                    <a:pt x="6861301" y="3318129"/>
                    <a:pt x="6853682" y="3325622"/>
                    <a:pt x="684441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6844411" y="3291840"/>
                  </a:lnTo>
                  <a:lnTo>
                    <a:pt x="6844411" y="3308731"/>
                  </a:lnTo>
                  <a:lnTo>
                    <a:pt x="6827520" y="330873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1703" y="1816103"/>
            <a:ext cx="5146043" cy="135131"/>
            <a:chOff x="0" y="0"/>
            <a:chExt cx="6861391" cy="1801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6827520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61301" cy="180088"/>
            </a:xfrm>
            <a:custGeom>
              <a:avLst/>
              <a:gdLst/>
              <a:ahLst/>
              <a:cxnLst/>
              <a:rect r="r" b="b" t="t" l="l"/>
              <a:pathLst>
                <a:path h="180088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63195"/>
                  </a:lnTo>
                  <a:cubicBezTo>
                    <a:pt x="6861301" y="172593"/>
                    <a:pt x="6853682" y="180086"/>
                    <a:pt x="68444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844411" y="146304"/>
                  </a:lnTo>
                  <a:lnTo>
                    <a:pt x="6844411" y="163195"/>
                  </a:lnTo>
                  <a:lnTo>
                    <a:pt x="6827520" y="163195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2011680"/>
            <a:ext cx="5120640" cy="1280160"/>
            <a:chOff x="0" y="0"/>
            <a:chExt cx="6827520" cy="1706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23825"/>
              <a:ext cx="682752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7.8M+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3291840"/>
            <a:ext cx="5120640" cy="640080"/>
            <a:chOff x="0" y="0"/>
            <a:chExt cx="682752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Crime Records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70983" y="1816103"/>
            <a:ext cx="5146043" cy="2494283"/>
            <a:chOff x="0" y="0"/>
            <a:chExt cx="6861391" cy="33257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68275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62032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61301" cy="3325622"/>
            </a:xfrm>
            <a:custGeom>
              <a:avLst/>
              <a:gdLst/>
              <a:ahLst/>
              <a:cxnLst/>
              <a:rect r="r" b="b" t="t" l="l"/>
              <a:pathLst>
                <a:path h="332562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3308731"/>
                  </a:lnTo>
                  <a:cubicBezTo>
                    <a:pt x="6861301" y="3318129"/>
                    <a:pt x="6853682" y="3325622"/>
                    <a:pt x="684441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6844411" y="3291840"/>
                  </a:lnTo>
                  <a:lnTo>
                    <a:pt x="6844411" y="3308731"/>
                  </a:lnTo>
                  <a:lnTo>
                    <a:pt x="6827520" y="330873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570983" y="1816103"/>
            <a:ext cx="5146043" cy="135131"/>
            <a:chOff x="0" y="0"/>
            <a:chExt cx="6861391" cy="1801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6827520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61301" cy="180088"/>
            </a:xfrm>
            <a:custGeom>
              <a:avLst/>
              <a:gdLst/>
              <a:ahLst/>
              <a:cxnLst/>
              <a:rect r="r" b="b" t="t" l="l"/>
              <a:pathLst>
                <a:path h="180088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63195"/>
                  </a:lnTo>
                  <a:cubicBezTo>
                    <a:pt x="6861301" y="172593"/>
                    <a:pt x="6853682" y="180086"/>
                    <a:pt x="68444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844411" y="146304"/>
                  </a:lnTo>
                  <a:lnTo>
                    <a:pt x="6844411" y="163195"/>
                  </a:lnTo>
                  <a:lnTo>
                    <a:pt x="6827520" y="163195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583680" y="2011680"/>
            <a:ext cx="5120640" cy="1280160"/>
            <a:chOff x="0" y="0"/>
            <a:chExt cx="6827520" cy="1706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27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23825"/>
              <a:ext cx="682752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2001–26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583680" y="3291840"/>
            <a:ext cx="5120640" cy="640080"/>
            <a:chOff x="0" y="0"/>
            <a:chExt cx="682752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 Span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240263" y="1816103"/>
            <a:ext cx="5146043" cy="2494283"/>
            <a:chOff x="0" y="0"/>
            <a:chExt cx="6861391" cy="33257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68275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62032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61301" cy="3325622"/>
            </a:xfrm>
            <a:custGeom>
              <a:avLst/>
              <a:gdLst/>
              <a:ahLst/>
              <a:cxnLst/>
              <a:rect r="r" b="b" t="t" l="l"/>
              <a:pathLst>
                <a:path h="332562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3308731"/>
                  </a:lnTo>
                  <a:cubicBezTo>
                    <a:pt x="6861301" y="3318129"/>
                    <a:pt x="6853682" y="3325622"/>
                    <a:pt x="684441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6844411" y="3291840"/>
                  </a:lnTo>
                  <a:lnTo>
                    <a:pt x="6844411" y="3308731"/>
                  </a:lnTo>
                  <a:lnTo>
                    <a:pt x="6827520" y="330873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240263" y="1816103"/>
            <a:ext cx="5146043" cy="135131"/>
            <a:chOff x="0" y="0"/>
            <a:chExt cx="6861391" cy="18017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6827520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61301" cy="180088"/>
            </a:xfrm>
            <a:custGeom>
              <a:avLst/>
              <a:gdLst/>
              <a:ahLst/>
              <a:cxnLst/>
              <a:rect r="r" b="b" t="t" l="l"/>
              <a:pathLst>
                <a:path h="180088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63195"/>
                  </a:lnTo>
                  <a:cubicBezTo>
                    <a:pt x="6861301" y="172593"/>
                    <a:pt x="6853682" y="180086"/>
                    <a:pt x="68444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844411" y="146304"/>
                  </a:lnTo>
                  <a:lnTo>
                    <a:pt x="6844411" y="163195"/>
                  </a:lnTo>
                  <a:lnTo>
                    <a:pt x="6827520" y="163195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252960" y="2011680"/>
            <a:ext cx="5120640" cy="1280160"/>
            <a:chOff x="0" y="0"/>
            <a:chExt cx="6827520" cy="17068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27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23825"/>
              <a:ext cx="682752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252960" y="3291840"/>
            <a:ext cx="5120640" cy="640080"/>
            <a:chOff x="0" y="0"/>
            <a:chExt cx="682752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Attributes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4400" y="4572000"/>
            <a:ext cx="16459200" cy="548640"/>
            <a:chOff x="0" y="0"/>
            <a:chExt cx="2194560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Source: City of Chicago Open Data Portal</a:t>
              </a:r>
            </a:p>
          </p:txBody>
        </p:sp>
      </p:grpSp>
      <p:graphicFrame>
        <p:nvGraphicFramePr>
          <p:cNvPr name="Table 49" id="49"/>
          <p:cNvGraphicFramePr>
            <a:graphicFrameLocks noGrp="true"/>
          </p:cNvGraphicFramePr>
          <p:nvPr/>
        </p:nvGraphicFramePr>
        <p:xfrm>
          <a:off x="914400" y="5212080"/>
          <a:ext cx="16459200" cy="4267200"/>
        </p:xfrm>
        <a:graphic>
          <a:graphicData uri="http://schemas.openxmlformats.org/drawingml/2006/table">
            <a:tbl>
              <a:tblPr/>
              <a:tblGrid>
                <a:gridCol w="3666028"/>
                <a:gridCol w="7306772"/>
                <a:gridCol w="5486400"/>
              </a:tblGrid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Column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Timestamp of incident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Temporal feature extraction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D1FAF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Primary 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D1FAF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Crime category (THEFT, BATTERY…)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D1FAF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Target / Feature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Location Description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Physical location 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Feature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D1FAF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D1FAF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Boolean — was arrest made?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D1FAF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★ Target Variable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District / Comm. Area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Police district &amp; community zone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Geographic feature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D1FAF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Latitude / Longitude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D1FAF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WGS84 coordinates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D1FAF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Spatial features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07840" y="274320"/>
            <a:ext cx="914400" cy="548640"/>
            <a:chOff x="0" y="0"/>
            <a:chExt cx="12192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Preprocessing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1596647"/>
            <a:ext cx="16484603" cy="25403"/>
            <a:chOff x="0" y="0"/>
            <a:chExt cx="2197947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4875" y="1910715"/>
            <a:ext cx="7974330" cy="2213610"/>
            <a:chOff x="0" y="0"/>
            <a:chExt cx="10632440" cy="2951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106070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32440" cy="2951480"/>
            </a:xfrm>
            <a:custGeom>
              <a:avLst/>
              <a:gdLst/>
              <a:ahLst/>
              <a:cxnLst/>
              <a:rect r="r" b="b" t="t" l="l"/>
              <a:pathLst>
                <a:path h="2951480" w="10632440">
                  <a:moveTo>
                    <a:pt x="12700" y="0"/>
                  </a:moveTo>
                  <a:lnTo>
                    <a:pt x="10619740" y="0"/>
                  </a:lnTo>
                  <a:cubicBezTo>
                    <a:pt x="10626725" y="0"/>
                    <a:pt x="10632440" y="5715"/>
                    <a:pt x="10632440" y="12700"/>
                  </a:cubicBezTo>
                  <a:lnTo>
                    <a:pt x="10632440" y="2938780"/>
                  </a:lnTo>
                  <a:cubicBezTo>
                    <a:pt x="10632440" y="2945765"/>
                    <a:pt x="10626725" y="2951480"/>
                    <a:pt x="1061974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10619740" y="2926080"/>
                  </a:lnTo>
                  <a:lnTo>
                    <a:pt x="10619740" y="2938780"/>
                  </a:lnTo>
                  <a:lnTo>
                    <a:pt x="10607040" y="2938780"/>
                  </a:lnTo>
                  <a:lnTo>
                    <a:pt x="10607040" y="12700"/>
                  </a:lnTo>
                  <a:lnTo>
                    <a:pt x="10619740" y="12700"/>
                  </a:lnTo>
                  <a:lnTo>
                    <a:pt x="106197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21159" y="2126999"/>
            <a:ext cx="793499" cy="793499"/>
            <a:chOff x="0" y="0"/>
            <a:chExt cx="1057999" cy="10579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33856" y="2139696"/>
            <a:ext cx="768096" cy="768096"/>
            <a:chOff x="0" y="0"/>
            <a:chExt cx="1024128" cy="10241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03120" y="2103120"/>
            <a:ext cx="6492240" cy="640080"/>
            <a:chOff x="0" y="0"/>
            <a:chExt cx="865632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56320" cy="853440"/>
            </a:xfrm>
            <a:custGeom>
              <a:avLst/>
              <a:gdLst/>
              <a:ahLst/>
              <a:cxnLst/>
              <a:rect r="r" b="b" t="t" l="l"/>
              <a:pathLst>
                <a:path h="8534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633" r="0" b="-14763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6563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Deduplication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103120" y="2798064"/>
            <a:ext cx="6492240" cy="1097280"/>
            <a:chOff x="0" y="0"/>
            <a:chExt cx="865632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56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286" r="0" b="-6528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865632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Per-partition ID-based dedup in Dask — no costly cross-partition shuffle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4875" y="4379595"/>
            <a:ext cx="7974330" cy="2213610"/>
            <a:chOff x="0" y="0"/>
            <a:chExt cx="10632440" cy="2951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2700" y="12700"/>
              <a:ext cx="106070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32440" cy="2951480"/>
            </a:xfrm>
            <a:custGeom>
              <a:avLst/>
              <a:gdLst/>
              <a:ahLst/>
              <a:cxnLst/>
              <a:rect r="r" b="b" t="t" l="l"/>
              <a:pathLst>
                <a:path h="2951480" w="10632440">
                  <a:moveTo>
                    <a:pt x="12700" y="0"/>
                  </a:moveTo>
                  <a:lnTo>
                    <a:pt x="10619740" y="0"/>
                  </a:lnTo>
                  <a:cubicBezTo>
                    <a:pt x="10626725" y="0"/>
                    <a:pt x="10632440" y="5715"/>
                    <a:pt x="10632440" y="12700"/>
                  </a:cubicBezTo>
                  <a:lnTo>
                    <a:pt x="10632440" y="2938780"/>
                  </a:lnTo>
                  <a:cubicBezTo>
                    <a:pt x="10632440" y="2945765"/>
                    <a:pt x="10626725" y="2951480"/>
                    <a:pt x="1061974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10619740" y="2926080"/>
                  </a:lnTo>
                  <a:lnTo>
                    <a:pt x="10619740" y="2938780"/>
                  </a:lnTo>
                  <a:lnTo>
                    <a:pt x="10607040" y="2938780"/>
                  </a:lnTo>
                  <a:lnTo>
                    <a:pt x="10607040" y="12700"/>
                  </a:lnTo>
                  <a:lnTo>
                    <a:pt x="10619740" y="12700"/>
                  </a:lnTo>
                  <a:lnTo>
                    <a:pt x="106197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21159" y="4595879"/>
            <a:ext cx="793499" cy="793499"/>
            <a:chOff x="0" y="0"/>
            <a:chExt cx="1057999" cy="105799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33856" y="4608576"/>
            <a:ext cx="768096" cy="768096"/>
            <a:chOff x="0" y="0"/>
            <a:chExt cx="1024128" cy="10241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03120" y="4572000"/>
            <a:ext cx="6492240" cy="640080"/>
            <a:chOff x="0" y="0"/>
            <a:chExt cx="865632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656320" cy="853440"/>
            </a:xfrm>
            <a:custGeom>
              <a:avLst/>
              <a:gdLst/>
              <a:ahLst/>
              <a:cxnLst/>
              <a:rect r="r" b="b" t="t" l="l"/>
              <a:pathLst>
                <a:path h="8534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633" r="0" b="-14763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86563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Null Removal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03120" y="5266944"/>
            <a:ext cx="6492240" cy="1097280"/>
            <a:chOff x="0" y="0"/>
            <a:chExt cx="8656320" cy="14630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656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286" r="0" b="-6528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65632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Rows with any null dropped — 0 missing values remain after this step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04875" y="6848475"/>
            <a:ext cx="7974330" cy="2213610"/>
            <a:chOff x="0" y="0"/>
            <a:chExt cx="10632440" cy="2951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106070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32440" cy="2951480"/>
            </a:xfrm>
            <a:custGeom>
              <a:avLst/>
              <a:gdLst/>
              <a:ahLst/>
              <a:cxnLst/>
              <a:rect r="r" b="b" t="t" l="l"/>
              <a:pathLst>
                <a:path h="2951480" w="10632440">
                  <a:moveTo>
                    <a:pt x="12700" y="0"/>
                  </a:moveTo>
                  <a:lnTo>
                    <a:pt x="10619740" y="0"/>
                  </a:lnTo>
                  <a:cubicBezTo>
                    <a:pt x="10626725" y="0"/>
                    <a:pt x="10632440" y="5715"/>
                    <a:pt x="10632440" y="12700"/>
                  </a:cubicBezTo>
                  <a:lnTo>
                    <a:pt x="10632440" y="2938780"/>
                  </a:lnTo>
                  <a:cubicBezTo>
                    <a:pt x="10632440" y="2945765"/>
                    <a:pt x="10626725" y="2951480"/>
                    <a:pt x="1061974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10619740" y="2926080"/>
                  </a:lnTo>
                  <a:lnTo>
                    <a:pt x="10619740" y="2938780"/>
                  </a:lnTo>
                  <a:lnTo>
                    <a:pt x="10607040" y="2938780"/>
                  </a:lnTo>
                  <a:lnTo>
                    <a:pt x="10607040" y="12700"/>
                  </a:lnTo>
                  <a:lnTo>
                    <a:pt x="10619740" y="12700"/>
                  </a:lnTo>
                  <a:lnTo>
                    <a:pt x="106197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21159" y="7064759"/>
            <a:ext cx="793499" cy="793499"/>
            <a:chOff x="0" y="0"/>
            <a:chExt cx="1057999" cy="105799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33856" y="7077456"/>
            <a:ext cx="768096" cy="768096"/>
            <a:chOff x="0" y="0"/>
            <a:chExt cx="1024128" cy="10241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03120" y="7040880"/>
            <a:ext cx="6492240" cy="640080"/>
            <a:chOff x="0" y="0"/>
            <a:chExt cx="8656320" cy="853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656320" cy="853440"/>
            </a:xfrm>
            <a:custGeom>
              <a:avLst/>
              <a:gdLst/>
              <a:ahLst/>
              <a:cxnLst/>
              <a:rect r="r" b="b" t="t" l="l"/>
              <a:pathLst>
                <a:path h="8534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633" r="0" b="-14763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86563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Coord Filtering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103120" y="7735824"/>
            <a:ext cx="6492240" cy="1097280"/>
            <a:chOff x="0" y="0"/>
            <a:chExt cx="8656320" cy="14630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656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286" r="0" b="-6528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865632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Lat/Lon = 0 excluded (unresolved location data)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591675" y="1910715"/>
            <a:ext cx="7974330" cy="2213610"/>
            <a:chOff x="0" y="0"/>
            <a:chExt cx="10632440" cy="29514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2700" y="12700"/>
              <a:ext cx="106070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632440" cy="2951480"/>
            </a:xfrm>
            <a:custGeom>
              <a:avLst/>
              <a:gdLst/>
              <a:ahLst/>
              <a:cxnLst/>
              <a:rect r="r" b="b" t="t" l="l"/>
              <a:pathLst>
                <a:path h="2951480" w="10632440">
                  <a:moveTo>
                    <a:pt x="12700" y="0"/>
                  </a:moveTo>
                  <a:lnTo>
                    <a:pt x="10619740" y="0"/>
                  </a:lnTo>
                  <a:cubicBezTo>
                    <a:pt x="10626725" y="0"/>
                    <a:pt x="10632440" y="5715"/>
                    <a:pt x="10632440" y="12700"/>
                  </a:cubicBezTo>
                  <a:lnTo>
                    <a:pt x="10632440" y="2938780"/>
                  </a:lnTo>
                  <a:cubicBezTo>
                    <a:pt x="10632440" y="2945765"/>
                    <a:pt x="10626725" y="2951480"/>
                    <a:pt x="1061974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10619740" y="2926080"/>
                  </a:lnTo>
                  <a:lnTo>
                    <a:pt x="10619740" y="2938780"/>
                  </a:lnTo>
                  <a:lnTo>
                    <a:pt x="10607040" y="2938780"/>
                  </a:lnTo>
                  <a:lnTo>
                    <a:pt x="10607040" y="12700"/>
                  </a:lnTo>
                  <a:lnTo>
                    <a:pt x="10619740" y="12700"/>
                  </a:lnTo>
                  <a:lnTo>
                    <a:pt x="106197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807959" y="2126999"/>
            <a:ext cx="793499" cy="793499"/>
            <a:chOff x="0" y="0"/>
            <a:chExt cx="1057999" cy="105799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820656" y="2139696"/>
            <a:ext cx="768096" cy="768096"/>
            <a:chOff x="0" y="0"/>
            <a:chExt cx="1024128" cy="10241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789920" y="2103120"/>
            <a:ext cx="6492240" cy="640080"/>
            <a:chOff x="0" y="0"/>
            <a:chExt cx="8656320" cy="853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656320" cy="853440"/>
            </a:xfrm>
            <a:custGeom>
              <a:avLst/>
              <a:gdLst/>
              <a:ahLst/>
              <a:cxnLst/>
              <a:rect r="r" b="b" t="t" l="l"/>
              <a:pathLst>
                <a:path h="8534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633" r="0" b="-14763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86563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Date Parsing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789920" y="2798064"/>
            <a:ext cx="6492240" cy="1097280"/>
            <a:chOff x="0" y="0"/>
            <a:chExt cx="8656320" cy="14630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656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286" r="0" b="-6528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865632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String → datetime; extracted Hour, Month, DayOfWeek, Year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591675" y="4379595"/>
            <a:ext cx="7974330" cy="2213610"/>
            <a:chOff x="0" y="0"/>
            <a:chExt cx="10632440" cy="29514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2700" y="12700"/>
              <a:ext cx="106070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632440" cy="2951480"/>
            </a:xfrm>
            <a:custGeom>
              <a:avLst/>
              <a:gdLst/>
              <a:ahLst/>
              <a:cxnLst/>
              <a:rect r="r" b="b" t="t" l="l"/>
              <a:pathLst>
                <a:path h="2951480" w="10632440">
                  <a:moveTo>
                    <a:pt x="12700" y="0"/>
                  </a:moveTo>
                  <a:lnTo>
                    <a:pt x="10619740" y="0"/>
                  </a:lnTo>
                  <a:cubicBezTo>
                    <a:pt x="10626725" y="0"/>
                    <a:pt x="10632440" y="5715"/>
                    <a:pt x="10632440" y="12700"/>
                  </a:cubicBezTo>
                  <a:lnTo>
                    <a:pt x="10632440" y="2938780"/>
                  </a:lnTo>
                  <a:cubicBezTo>
                    <a:pt x="10632440" y="2945765"/>
                    <a:pt x="10626725" y="2951480"/>
                    <a:pt x="1061974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10619740" y="2926080"/>
                  </a:lnTo>
                  <a:lnTo>
                    <a:pt x="10619740" y="2938780"/>
                  </a:lnTo>
                  <a:lnTo>
                    <a:pt x="10607040" y="2938780"/>
                  </a:lnTo>
                  <a:lnTo>
                    <a:pt x="10607040" y="12700"/>
                  </a:lnTo>
                  <a:lnTo>
                    <a:pt x="10619740" y="12700"/>
                  </a:lnTo>
                  <a:lnTo>
                    <a:pt x="106197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807959" y="4595879"/>
            <a:ext cx="793499" cy="793499"/>
            <a:chOff x="0" y="0"/>
            <a:chExt cx="1057999" cy="105799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820656" y="4608576"/>
            <a:ext cx="768096" cy="768096"/>
            <a:chOff x="0" y="0"/>
            <a:chExt cx="1024128" cy="102412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789920" y="4572000"/>
            <a:ext cx="6492240" cy="640080"/>
            <a:chOff x="0" y="0"/>
            <a:chExt cx="8656320" cy="8534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656320" cy="853440"/>
            </a:xfrm>
            <a:custGeom>
              <a:avLst/>
              <a:gdLst/>
              <a:ahLst/>
              <a:cxnLst/>
              <a:rect r="r" b="b" t="t" l="l"/>
              <a:pathLst>
                <a:path h="8534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633" r="0" b="-14763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86563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Rare Encoding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789920" y="5266944"/>
            <a:ext cx="6492240" cy="1097280"/>
            <a:chOff x="0" y="0"/>
            <a:chExt cx="8656320" cy="14630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656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286" r="0" b="-6528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865632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Top-25 Location &amp; Description values kept; rest → OTHER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591675" y="6848475"/>
            <a:ext cx="7974330" cy="2213610"/>
            <a:chOff x="0" y="0"/>
            <a:chExt cx="10632440" cy="29514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2700" y="12700"/>
              <a:ext cx="106070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632440" cy="2951480"/>
            </a:xfrm>
            <a:custGeom>
              <a:avLst/>
              <a:gdLst/>
              <a:ahLst/>
              <a:cxnLst/>
              <a:rect r="r" b="b" t="t" l="l"/>
              <a:pathLst>
                <a:path h="2951480" w="10632440">
                  <a:moveTo>
                    <a:pt x="12700" y="0"/>
                  </a:moveTo>
                  <a:lnTo>
                    <a:pt x="10619740" y="0"/>
                  </a:lnTo>
                  <a:cubicBezTo>
                    <a:pt x="10626725" y="0"/>
                    <a:pt x="10632440" y="5715"/>
                    <a:pt x="10632440" y="12700"/>
                  </a:cubicBezTo>
                  <a:lnTo>
                    <a:pt x="10632440" y="2938780"/>
                  </a:lnTo>
                  <a:cubicBezTo>
                    <a:pt x="10632440" y="2945765"/>
                    <a:pt x="10626725" y="2951480"/>
                    <a:pt x="1061974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10619740" y="2926080"/>
                  </a:lnTo>
                  <a:lnTo>
                    <a:pt x="10619740" y="2938780"/>
                  </a:lnTo>
                  <a:lnTo>
                    <a:pt x="10607040" y="2938780"/>
                  </a:lnTo>
                  <a:lnTo>
                    <a:pt x="10607040" y="12700"/>
                  </a:lnTo>
                  <a:lnTo>
                    <a:pt x="10619740" y="12700"/>
                  </a:lnTo>
                  <a:lnTo>
                    <a:pt x="106197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807959" y="7064759"/>
            <a:ext cx="793499" cy="793499"/>
            <a:chOff x="0" y="0"/>
            <a:chExt cx="1057999" cy="105799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820656" y="7077456"/>
            <a:ext cx="768096" cy="768096"/>
            <a:chOff x="0" y="0"/>
            <a:chExt cx="1024128" cy="102412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789920" y="7040880"/>
            <a:ext cx="6492240" cy="640080"/>
            <a:chOff x="0" y="0"/>
            <a:chExt cx="8656320" cy="8534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656320" cy="853440"/>
            </a:xfrm>
            <a:custGeom>
              <a:avLst/>
              <a:gdLst/>
              <a:ahLst/>
              <a:cxnLst/>
              <a:rect r="r" b="b" t="t" l="l"/>
              <a:pathLst>
                <a:path h="8534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633" r="0" b="-14763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86563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Column Pruning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789920" y="7735824"/>
            <a:ext cx="6492240" cy="1097280"/>
            <a:chOff x="0" y="0"/>
            <a:chExt cx="8656320" cy="14630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656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286" r="0" b="-6528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865632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Dropped Case No., IUCR, FBI Code, Beat, Ward, Updated On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04875" y="9317355"/>
            <a:ext cx="16478250" cy="567690"/>
            <a:chOff x="0" y="0"/>
            <a:chExt cx="21971000" cy="7569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2700" y="1270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1971000" cy="756920"/>
            </a:xfrm>
            <a:custGeom>
              <a:avLst/>
              <a:gdLst/>
              <a:ahLst/>
              <a:cxnLst/>
              <a:rect r="r" b="b" t="t" l="l"/>
              <a:pathLst>
                <a:path h="756920" w="21971000">
                  <a:moveTo>
                    <a:pt x="12700" y="0"/>
                  </a:moveTo>
                  <a:lnTo>
                    <a:pt x="21958300" y="0"/>
                  </a:lnTo>
                  <a:cubicBezTo>
                    <a:pt x="21965286" y="0"/>
                    <a:pt x="21971000" y="5715"/>
                    <a:pt x="21971000" y="12700"/>
                  </a:cubicBezTo>
                  <a:lnTo>
                    <a:pt x="21971000" y="744220"/>
                  </a:lnTo>
                  <a:cubicBezTo>
                    <a:pt x="21971000" y="751205"/>
                    <a:pt x="21965286" y="756920"/>
                    <a:pt x="21958300" y="756920"/>
                  </a:cubicBezTo>
                  <a:lnTo>
                    <a:pt x="12700" y="756920"/>
                  </a:lnTo>
                  <a:cubicBezTo>
                    <a:pt x="5715" y="756920"/>
                    <a:pt x="0" y="751205"/>
                    <a:pt x="0" y="744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44220"/>
                  </a:lnTo>
                  <a:lnTo>
                    <a:pt x="12700" y="744220"/>
                  </a:lnTo>
                  <a:lnTo>
                    <a:pt x="12700" y="731520"/>
                  </a:lnTo>
                  <a:lnTo>
                    <a:pt x="21958300" y="731520"/>
                  </a:lnTo>
                  <a:lnTo>
                    <a:pt x="21958300" y="744220"/>
                  </a:lnTo>
                  <a:lnTo>
                    <a:pt x="21945600" y="744220"/>
                  </a:lnTo>
                  <a:lnTo>
                    <a:pt x="21945600" y="12700"/>
                  </a:lnTo>
                  <a:lnTo>
                    <a:pt x="21958300" y="12700"/>
                  </a:lnTo>
                  <a:lnTo>
                    <a:pt x="219583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14400" y="9326880"/>
            <a:ext cx="16459200" cy="548640"/>
            <a:chOff x="0" y="0"/>
            <a:chExt cx="21945600" cy="7315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E3A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⚙  Infrastructure: Dask for parallel EDA (lazy eval across CPU cores)  ·  PySpark for ML pipeline (cluster-aware scaling, BKM, Random Forest)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07840" y="274320"/>
            <a:ext cx="914400" cy="548640"/>
            <a:chOff x="0" y="0"/>
            <a:chExt cx="12192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Exploratory Data Analysis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1596647"/>
            <a:ext cx="16484603" cy="25403"/>
            <a:chOff x="0" y="0"/>
            <a:chExt cx="2197947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1737360"/>
            <a:ext cx="8229600" cy="548640"/>
            <a:chOff x="0" y="0"/>
            <a:chExt cx="109728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Crime Types</a:t>
              </a: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09728" y="1444752"/>
            <a:ext cx="10094976" cy="5522976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9692640" y="1737360"/>
            <a:ext cx="7680960" cy="548640"/>
            <a:chOff x="0" y="0"/>
            <a:chExt cx="102412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Arrest Rate by Crime Type</a:t>
              </a:r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686800" y="1463040"/>
            <a:ext cx="9875520" cy="54864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 rot="0">
            <a:off x="731520" y="6309360"/>
            <a:ext cx="8229600" cy="548640"/>
            <a:chOff x="0" y="0"/>
            <a:chExt cx="109728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Monthly Crime Pattern (Seasonal)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09760" y="6309360"/>
            <a:ext cx="8229600" cy="548640"/>
            <a:chOff x="0" y="0"/>
            <a:chExt cx="109728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Crime Count per Chicago Police District</a:t>
              </a:r>
            </a:p>
          </p:txBody>
        </p:sp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686800" y="6035040"/>
            <a:ext cx="9875520" cy="4663440"/>
          </a:xfrm>
          <a:prstGeom prst="rect">
            <a:avLst/>
          </a:prstGeom>
        </p:spPr>
      </p:pic>
      <p:sp>
        <p:nvSpPr>
          <p:cNvPr name="Freeform 25" id="25"/>
          <p:cNvSpPr/>
          <p:nvPr/>
        </p:nvSpPr>
        <p:spPr>
          <a:xfrm flipH="false" flipV="false" rot="0">
            <a:off x="394409" y="2286000"/>
            <a:ext cx="8566711" cy="4047771"/>
          </a:xfrm>
          <a:custGeom>
            <a:avLst/>
            <a:gdLst/>
            <a:ahLst/>
            <a:cxnLst/>
            <a:rect r="r" b="b" t="t" l="l"/>
            <a:pathLst>
              <a:path h="4047771" w="8566711">
                <a:moveTo>
                  <a:pt x="0" y="0"/>
                </a:moveTo>
                <a:lnTo>
                  <a:pt x="8566711" y="0"/>
                </a:lnTo>
                <a:lnTo>
                  <a:pt x="8566711" y="4047771"/>
                </a:lnTo>
                <a:lnTo>
                  <a:pt x="0" y="40477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186863" y="2286000"/>
            <a:ext cx="8799691" cy="4023360"/>
          </a:xfrm>
          <a:custGeom>
            <a:avLst/>
            <a:gdLst/>
            <a:ahLst/>
            <a:cxnLst/>
            <a:rect r="r" b="b" t="t" l="l"/>
            <a:pathLst>
              <a:path h="4023360" w="8799691">
                <a:moveTo>
                  <a:pt x="0" y="0"/>
                </a:moveTo>
                <a:lnTo>
                  <a:pt x="8799691" y="0"/>
                </a:lnTo>
                <a:lnTo>
                  <a:pt x="8799691" y="4023360"/>
                </a:lnTo>
                <a:lnTo>
                  <a:pt x="0" y="40233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87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6271" y="6723889"/>
            <a:ext cx="9582979" cy="3285743"/>
          </a:xfrm>
          <a:custGeom>
            <a:avLst/>
            <a:gdLst/>
            <a:ahLst/>
            <a:cxnLst/>
            <a:rect r="r" b="b" t="t" l="l"/>
            <a:pathLst>
              <a:path h="3285743" w="9582979">
                <a:moveTo>
                  <a:pt x="0" y="0"/>
                </a:moveTo>
                <a:lnTo>
                  <a:pt x="9582978" y="0"/>
                </a:lnTo>
                <a:lnTo>
                  <a:pt x="9582978" y="3285742"/>
                </a:lnTo>
                <a:lnTo>
                  <a:pt x="0" y="32857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679" t="-89" r="-3732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729249" y="6858000"/>
            <a:ext cx="8558751" cy="2888578"/>
          </a:xfrm>
          <a:custGeom>
            <a:avLst/>
            <a:gdLst/>
            <a:ahLst/>
            <a:cxnLst/>
            <a:rect r="r" b="b" t="t" l="l"/>
            <a:pathLst>
              <a:path h="2888578" w="8558751">
                <a:moveTo>
                  <a:pt x="0" y="0"/>
                </a:moveTo>
                <a:lnTo>
                  <a:pt x="8558751" y="0"/>
                </a:lnTo>
                <a:lnTo>
                  <a:pt x="8558751" y="2888578"/>
                </a:lnTo>
                <a:lnTo>
                  <a:pt x="0" y="2888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07840" y="274320"/>
            <a:ext cx="914400" cy="548640"/>
            <a:chOff x="0" y="0"/>
            <a:chExt cx="12192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Exploratory Data Analysis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1596647"/>
            <a:ext cx="16484603" cy="25403"/>
            <a:chOff x="0" y="0"/>
            <a:chExt cx="2197947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57517" y="1622050"/>
            <a:ext cx="8229600" cy="548640"/>
            <a:chOff x="0" y="0"/>
            <a:chExt cx="109728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Long-term Trend (2003–2024)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31837" y="6240780"/>
            <a:ext cx="7680960" cy="548640"/>
            <a:chOff x="0" y="0"/>
            <a:chExt cx="1024128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Crime Frequency by hour of day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447366" y="2185776"/>
            <a:ext cx="12663798" cy="3893079"/>
          </a:xfrm>
          <a:custGeom>
            <a:avLst/>
            <a:gdLst/>
            <a:ahLst/>
            <a:cxnLst/>
            <a:rect r="r" b="b" t="t" l="l"/>
            <a:pathLst>
              <a:path h="3893079" w="12663798">
                <a:moveTo>
                  <a:pt x="0" y="0"/>
                </a:moveTo>
                <a:lnTo>
                  <a:pt x="12663798" y="0"/>
                </a:lnTo>
                <a:lnTo>
                  <a:pt x="12663798" y="3893079"/>
                </a:lnTo>
                <a:lnTo>
                  <a:pt x="0" y="3893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0" t="-387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667410" y="6788376"/>
            <a:ext cx="11838642" cy="3498624"/>
          </a:xfrm>
          <a:custGeom>
            <a:avLst/>
            <a:gdLst/>
            <a:ahLst/>
            <a:cxnLst/>
            <a:rect r="r" b="b" t="t" l="l"/>
            <a:pathLst>
              <a:path h="3498624" w="11838642">
                <a:moveTo>
                  <a:pt x="0" y="0"/>
                </a:moveTo>
                <a:lnTo>
                  <a:pt x="11838643" y="0"/>
                </a:lnTo>
                <a:lnTo>
                  <a:pt x="11838643" y="3498624"/>
                </a:lnTo>
                <a:lnTo>
                  <a:pt x="0" y="34986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3" t="-523" r="0" b="-389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07840" y="274320"/>
            <a:ext cx="914400" cy="548640"/>
            <a:chOff x="0" y="0"/>
            <a:chExt cx="12192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1596647"/>
            <a:ext cx="16484603" cy="25403"/>
            <a:chOff x="0" y="0"/>
            <a:chExt cx="2197947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8823" y="1907543"/>
            <a:ext cx="3042923" cy="2219963"/>
            <a:chOff x="0" y="0"/>
            <a:chExt cx="4057231" cy="29599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40233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62032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571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4057142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2942971"/>
                  </a:lnTo>
                  <a:cubicBezTo>
                    <a:pt x="4057142" y="2952369"/>
                    <a:pt x="4049522" y="2959862"/>
                    <a:pt x="4040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4040251" y="2926080"/>
                  </a:lnTo>
                  <a:lnTo>
                    <a:pt x="4040251" y="2942971"/>
                  </a:lnTo>
                  <a:lnTo>
                    <a:pt x="4023360" y="294297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31520" y="2011680"/>
            <a:ext cx="3017520" cy="1005840"/>
            <a:chOff x="0" y="0"/>
            <a:chExt cx="4023360" cy="1341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23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233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 CSV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7.8M rows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31520" y="3017520"/>
            <a:ext cx="3017520" cy="914400"/>
            <a:chOff x="0" y="0"/>
            <a:chExt cx="402336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23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0233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Chicago Open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Portal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723637" y="2992117"/>
            <a:ext cx="416557" cy="50797"/>
            <a:chOff x="0" y="0"/>
            <a:chExt cx="555409" cy="677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3909" y="0"/>
              <a:ext cx="487680" cy="67691"/>
            </a:xfrm>
            <a:custGeom>
              <a:avLst/>
              <a:gdLst/>
              <a:ahLst/>
              <a:cxnLst/>
              <a:rect r="r" b="b" t="t" l="l"/>
              <a:pathLst>
                <a:path h="67691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102103" y="1907543"/>
            <a:ext cx="3042923" cy="2219963"/>
            <a:chOff x="0" y="0"/>
            <a:chExt cx="4057231" cy="29599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40233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62032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571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4057142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2942971"/>
                  </a:lnTo>
                  <a:cubicBezTo>
                    <a:pt x="4057142" y="2952369"/>
                    <a:pt x="4049522" y="2959862"/>
                    <a:pt x="4040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4040251" y="2926080"/>
                  </a:lnTo>
                  <a:lnTo>
                    <a:pt x="4040251" y="2942971"/>
                  </a:lnTo>
                  <a:lnTo>
                    <a:pt x="4023360" y="294297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114800" y="2011680"/>
            <a:ext cx="3017520" cy="1005840"/>
            <a:chOff x="0" y="0"/>
            <a:chExt cx="4023360" cy="1341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23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0233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Dask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114800" y="3017520"/>
            <a:ext cx="3017520" cy="914400"/>
            <a:chOff x="0" y="0"/>
            <a:chExt cx="402336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23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0233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Dedup · Nulls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 filter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106917" y="2992117"/>
            <a:ext cx="416557" cy="50797"/>
            <a:chOff x="0" y="0"/>
            <a:chExt cx="555409" cy="677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33909" y="0"/>
              <a:ext cx="487680" cy="67691"/>
            </a:xfrm>
            <a:custGeom>
              <a:avLst/>
              <a:gdLst/>
              <a:ahLst/>
              <a:cxnLst/>
              <a:rect r="r" b="b" t="t" l="l"/>
              <a:pathLst>
                <a:path h="67691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485383" y="1907543"/>
            <a:ext cx="3042923" cy="2219963"/>
            <a:chOff x="0" y="0"/>
            <a:chExt cx="4057231" cy="29599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40233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6203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571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4057142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2942971"/>
                  </a:lnTo>
                  <a:cubicBezTo>
                    <a:pt x="4057142" y="2952369"/>
                    <a:pt x="4049522" y="2959862"/>
                    <a:pt x="4040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4040251" y="2926080"/>
                  </a:lnTo>
                  <a:lnTo>
                    <a:pt x="4040251" y="2942971"/>
                  </a:lnTo>
                  <a:lnTo>
                    <a:pt x="4023360" y="294297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498080" y="2011680"/>
            <a:ext cx="3017520" cy="1005840"/>
            <a:chOff x="0" y="0"/>
            <a:chExt cx="4023360" cy="1341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23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0233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Dask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498080" y="3017520"/>
            <a:ext cx="3017520" cy="914400"/>
            <a:chOff x="0" y="0"/>
            <a:chExt cx="402336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23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0233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 · Time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Geo analysis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490197" y="2992117"/>
            <a:ext cx="416557" cy="50797"/>
            <a:chOff x="0" y="0"/>
            <a:chExt cx="555409" cy="6772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33909" y="0"/>
              <a:ext cx="487680" cy="67691"/>
            </a:xfrm>
            <a:custGeom>
              <a:avLst/>
              <a:gdLst/>
              <a:ahLst/>
              <a:cxnLst/>
              <a:rect r="r" b="b" t="t" l="l"/>
              <a:pathLst>
                <a:path h="67691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868663" y="1907543"/>
            <a:ext cx="3042923" cy="2219963"/>
            <a:chOff x="0" y="0"/>
            <a:chExt cx="4057231" cy="29599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40233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62032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571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4057142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2942971"/>
                  </a:lnTo>
                  <a:cubicBezTo>
                    <a:pt x="4057142" y="2952369"/>
                    <a:pt x="4049522" y="2959862"/>
                    <a:pt x="4040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4040251" y="2926080"/>
                  </a:lnTo>
                  <a:lnTo>
                    <a:pt x="4040251" y="2942971"/>
                  </a:lnTo>
                  <a:lnTo>
                    <a:pt x="4023360" y="294297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881360" y="2011680"/>
            <a:ext cx="3017520" cy="1005840"/>
            <a:chOff x="0" y="0"/>
            <a:chExt cx="4023360" cy="13411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23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0233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PySpark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BKM Clust.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881360" y="3017520"/>
            <a:ext cx="3017520" cy="914400"/>
            <a:chOff x="0" y="0"/>
            <a:chExt cx="4023360" cy="121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23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0233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K=30 zones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Lat·Lon·Hour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873477" y="2992117"/>
            <a:ext cx="416557" cy="50797"/>
            <a:chOff x="0" y="0"/>
            <a:chExt cx="555409" cy="6772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33909" y="0"/>
              <a:ext cx="487680" cy="67691"/>
            </a:xfrm>
            <a:custGeom>
              <a:avLst/>
              <a:gdLst/>
              <a:ahLst/>
              <a:cxnLst/>
              <a:rect r="r" b="b" t="t" l="l"/>
              <a:pathLst>
                <a:path h="67691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251943" y="1907543"/>
            <a:ext cx="3042923" cy="2219963"/>
            <a:chOff x="0" y="0"/>
            <a:chExt cx="4057231" cy="295995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40233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571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4057142">
                  <a:moveTo>
                    <a:pt x="16891" y="0"/>
                  </a:moveTo>
                  <a:lnTo>
                    <a:pt x="4040251" y="0"/>
                  </a:lnTo>
                  <a:cubicBezTo>
                    <a:pt x="4049649" y="0"/>
                    <a:pt x="4057142" y="7620"/>
                    <a:pt x="4057142" y="16891"/>
                  </a:cubicBezTo>
                  <a:lnTo>
                    <a:pt x="4057142" y="2942971"/>
                  </a:lnTo>
                  <a:cubicBezTo>
                    <a:pt x="4057142" y="2952369"/>
                    <a:pt x="4049522" y="2959862"/>
                    <a:pt x="40402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4040251" y="2926080"/>
                  </a:lnTo>
                  <a:lnTo>
                    <a:pt x="4040251" y="2942971"/>
                  </a:lnTo>
                  <a:lnTo>
                    <a:pt x="4023360" y="2942971"/>
                  </a:lnTo>
                  <a:lnTo>
                    <a:pt x="4023360" y="16891"/>
                  </a:lnTo>
                  <a:lnTo>
                    <a:pt x="4040251" y="16891"/>
                  </a:lnTo>
                  <a:lnTo>
                    <a:pt x="4040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264640" y="2011680"/>
            <a:ext cx="3017520" cy="1005840"/>
            <a:chOff x="0" y="0"/>
            <a:chExt cx="4023360" cy="13411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0233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0233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PySpark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 Classif.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264640" y="3017520"/>
            <a:ext cx="3017520" cy="914400"/>
            <a:chOff x="0" y="0"/>
            <a:chExt cx="4023360" cy="1219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023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40233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D1FA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Arrest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D1FA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Prediction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01703" y="4650743"/>
            <a:ext cx="7980683" cy="5146043"/>
            <a:chOff x="0" y="0"/>
            <a:chExt cx="10640911" cy="686139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060704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162032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640822" cy="6861301"/>
            </a:xfrm>
            <a:custGeom>
              <a:avLst/>
              <a:gdLst/>
              <a:ahLst/>
              <a:cxnLst/>
              <a:rect r="r" b="b" t="t" l="l"/>
              <a:pathLst>
                <a:path h="6861301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6844411"/>
                  </a:lnTo>
                  <a:cubicBezTo>
                    <a:pt x="10640822" y="6853809"/>
                    <a:pt x="10633202" y="6861301"/>
                    <a:pt x="10623931" y="6861301"/>
                  </a:cubicBezTo>
                  <a:lnTo>
                    <a:pt x="16891" y="6861301"/>
                  </a:lnTo>
                  <a:cubicBezTo>
                    <a:pt x="7493" y="6861301"/>
                    <a:pt x="0" y="6853682"/>
                    <a:pt x="0" y="6844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44411"/>
                  </a:lnTo>
                  <a:lnTo>
                    <a:pt x="16891" y="6844411"/>
                  </a:lnTo>
                  <a:lnTo>
                    <a:pt x="16891" y="6827520"/>
                  </a:lnTo>
                  <a:lnTo>
                    <a:pt x="10623931" y="6827520"/>
                  </a:lnTo>
                  <a:lnTo>
                    <a:pt x="10623931" y="6844411"/>
                  </a:lnTo>
                  <a:lnTo>
                    <a:pt x="10607040" y="684441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01703" y="4650743"/>
            <a:ext cx="7980683" cy="153419"/>
            <a:chOff x="0" y="0"/>
            <a:chExt cx="10640911" cy="20455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10607040" cy="170688"/>
            </a:xfrm>
            <a:custGeom>
              <a:avLst/>
              <a:gdLst/>
              <a:ahLst/>
              <a:cxnLst/>
              <a:rect r="r" b="b" t="t" l="l"/>
              <a:pathLst>
                <a:path h="17068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640822" cy="204472"/>
            </a:xfrm>
            <a:custGeom>
              <a:avLst/>
              <a:gdLst/>
              <a:ahLst/>
              <a:cxnLst/>
              <a:rect r="r" b="b" t="t" l="l"/>
              <a:pathLst>
                <a:path h="20447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87579"/>
                  </a:lnTo>
                  <a:cubicBezTo>
                    <a:pt x="10640822" y="196977"/>
                    <a:pt x="10633202" y="204470"/>
                    <a:pt x="1062393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0623931" y="170688"/>
                  </a:lnTo>
                  <a:lnTo>
                    <a:pt x="10623931" y="187579"/>
                  </a:lnTo>
                  <a:lnTo>
                    <a:pt x="10607040" y="187579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88720" y="4846320"/>
            <a:ext cx="7406640" cy="731520"/>
            <a:chOff x="0" y="0"/>
            <a:chExt cx="9875520" cy="9753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875520" cy="975360"/>
            </a:xfrm>
            <a:custGeom>
              <a:avLst/>
              <a:gdLst/>
              <a:ahLst/>
              <a:cxnLst/>
              <a:rect r="r" b="b" t="t" l="l"/>
              <a:pathLst>
                <a:path h="9753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286" r="0" b="-14728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98755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Bisecting K-Means (BKM)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88720" y="5669280"/>
            <a:ext cx="7406640" cy="1554480"/>
            <a:chOff x="0" y="0"/>
            <a:chExt cx="9875520" cy="2072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8755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40" r="0" b="-4284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987552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8FA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chosen: Scales to 7.8M records — recursively splits highest-variance cluster, far faster than standard K-Means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82367" y="7253983"/>
            <a:ext cx="7327897" cy="14526"/>
            <a:chOff x="0" y="0"/>
            <a:chExt cx="9770529" cy="1936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770618" cy="19431"/>
            </a:xfrm>
            <a:custGeom>
              <a:avLst/>
              <a:gdLst/>
              <a:ahLst/>
              <a:cxnLst/>
              <a:rect r="r" b="b" t="t" l="l"/>
              <a:pathLst>
                <a:path h="19431" w="9770618">
                  <a:moveTo>
                    <a:pt x="8509" y="0"/>
                  </a:moveTo>
                  <a:lnTo>
                    <a:pt x="9762109" y="0"/>
                  </a:lnTo>
                  <a:cubicBezTo>
                    <a:pt x="9766808" y="0"/>
                    <a:pt x="9770618" y="3810"/>
                    <a:pt x="9770618" y="8509"/>
                  </a:cubicBezTo>
                  <a:lnTo>
                    <a:pt x="9770618" y="10922"/>
                  </a:lnTo>
                  <a:cubicBezTo>
                    <a:pt x="9770618" y="15621"/>
                    <a:pt x="9766808" y="19431"/>
                    <a:pt x="9762109" y="19431"/>
                  </a:cubicBezTo>
                  <a:lnTo>
                    <a:pt x="8509" y="19431"/>
                  </a:lnTo>
                  <a:cubicBezTo>
                    <a:pt x="3810" y="19431"/>
                    <a:pt x="0" y="15621"/>
                    <a:pt x="0" y="10922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922"/>
                  </a:lnTo>
                  <a:lnTo>
                    <a:pt x="8509" y="10922"/>
                  </a:lnTo>
                  <a:lnTo>
                    <a:pt x="8509" y="2413"/>
                  </a:lnTo>
                  <a:lnTo>
                    <a:pt x="9762109" y="2413"/>
                  </a:lnTo>
                  <a:lnTo>
                    <a:pt x="9762109" y="10922"/>
                  </a:lnTo>
                  <a:lnTo>
                    <a:pt x="9753600" y="10922"/>
                  </a:lnTo>
                  <a:lnTo>
                    <a:pt x="9753600" y="8509"/>
                  </a:lnTo>
                  <a:lnTo>
                    <a:pt x="9762109" y="8509"/>
                  </a:lnTo>
                  <a:lnTo>
                    <a:pt x="9762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88720" y="7315200"/>
            <a:ext cx="7406640" cy="548640"/>
            <a:chOff x="0" y="0"/>
            <a:chExt cx="987552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875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4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⚙ K = 30  ·  Seed = 42  ·  200 Spark partitions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88720" y="7863840"/>
            <a:ext cx="7406640" cy="548640"/>
            <a:chOff x="0" y="0"/>
            <a:chExt cx="987552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875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Features: Latitude, Longitude, Hour (standardised with StandardScaler)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588503" y="4650743"/>
            <a:ext cx="7980683" cy="5146043"/>
            <a:chOff x="0" y="0"/>
            <a:chExt cx="10640911" cy="686139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060704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162032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640822" cy="6861301"/>
            </a:xfrm>
            <a:custGeom>
              <a:avLst/>
              <a:gdLst/>
              <a:ahLst/>
              <a:cxnLst/>
              <a:rect r="r" b="b" t="t" l="l"/>
              <a:pathLst>
                <a:path h="6861301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6844411"/>
                  </a:lnTo>
                  <a:cubicBezTo>
                    <a:pt x="10640822" y="6853809"/>
                    <a:pt x="10633202" y="6861301"/>
                    <a:pt x="10623931" y="6861301"/>
                  </a:cubicBezTo>
                  <a:lnTo>
                    <a:pt x="16891" y="6861301"/>
                  </a:lnTo>
                  <a:cubicBezTo>
                    <a:pt x="7493" y="6861301"/>
                    <a:pt x="0" y="6853682"/>
                    <a:pt x="0" y="6844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44411"/>
                  </a:lnTo>
                  <a:lnTo>
                    <a:pt x="16891" y="6844411"/>
                  </a:lnTo>
                  <a:lnTo>
                    <a:pt x="16891" y="6827520"/>
                  </a:lnTo>
                  <a:lnTo>
                    <a:pt x="10623931" y="6827520"/>
                  </a:lnTo>
                  <a:lnTo>
                    <a:pt x="10623931" y="6844411"/>
                  </a:lnTo>
                  <a:lnTo>
                    <a:pt x="10607040" y="684441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588503" y="4650743"/>
            <a:ext cx="7980683" cy="153419"/>
            <a:chOff x="0" y="0"/>
            <a:chExt cx="10640911" cy="20455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0607040" cy="170688"/>
            </a:xfrm>
            <a:custGeom>
              <a:avLst/>
              <a:gdLst/>
              <a:ahLst/>
              <a:cxnLst/>
              <a:rect r="r" b="b" t="t" l="l"/>
              <a:pathLst>
                <a:path h="17068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640822" cy="204472"/>
            </a:xfrm>
            <a:custGeom>
              <a:avLst/>
              <a:gdLst/>
              <a:ahLst/>
              <a:cxnLst/>
              <a:rect r="r" b="b" t="t" l="l"/>
              <a:pathLst>
                <a:path h="20447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87579"/>
                  </a:lnTo>
                  <a:cubicBezTo>
                    <a:pt x="10640822" y="196977"/>
                    <a:pt x="10633202" y="204470"/>
                    <a:pt x="1062393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0623931" y="170688"/>
                  </a:lnTo>
                  <a:lnTo>
                    <a:pt x="10623931" y="187579"/>
                  </a:lnTo>
                  <a:lnTo>
                    <a:pt x="10607040" y="187579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875520" y="4846320"/>
            <a:ext cx="7406640" cy="731520"/>
            <a:chOff x="0" y="0"/>
            <a:chExt cx="9875520" cy="9753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875520" cy="975360"/>
            </a:xfrm>
            <a:custGeom>
              <a:avLst/>
              <a:gdLst/>
              <a:ahLst/>
              <a:cxnLst/>
              <a:rect r="r" b="b" t="t" l="l"/>
              <a:pathLst>
                <a:path h="9753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286" r="0" b="-14728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98755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 Classifier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875520" y="5669280"/>
            <a:ext cx="7406640" cy="1554480"/>
            <a:chOff x="0" y="0"/>
            <a:chExt cx="9875520" cy="2072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8755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40" r="0" b="-4284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987552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8FA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chosen: Handles class imbalance, non-linear interactions, and high-cardinality categoricals naturally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869167" y="7253983"/>
            <a:ext cx="7327897" cy="14526"/>
            <a:chOff x="0" y="0"/>
            <a:chExt cx="9770529" cy="1936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770618" cy="19431"/>
            </a:xfrm>
            <a:custGeom>
              <a:avLst/>
              <a:gdLst/>
              <a:ahLst/>
              <a:cxnLst/>
              <a:rect r="r" b="b" t="t" l="l"/>
              <a:pathLst>
                <a:path h="19431" w="9770618">
                  <a:moveTo>
                    <a:pt x="8509" y="0"/>
                  </a:moveTo>
                  <a:lnTo>
                    <a:pt x="9762109" y="0"/>
                  </a:lnTo>
                  <a:cubicBezTo>
                    <a:pt x="9766808" y="0"/>
                    <a:pt x="9770618" y="3810"/>
                    <a:pt x="9770618" y="8509"/>
                  </a:cubicBezTo>
                  <a:lnTo>
                    <a:pt x="9770618" y="10922"/>
                  </a:lnTo>
                  <a:cubicBezTo>
                    <a:pt x="9770618" y="15621"/>
                    <a:pt x="9766808" y="19431"/>
                    <a:pt x="9762109" y="19431"/>
                  </a:cubicBezTo>
                  <a:lnTo>
                    <a:pt x="8509" y="19431"/>
                  </a:lnTo>
                  <a:cubicBezTo>
                    <a:pt x="3810" y="19431"/>
                    <a:pt x="0" y="15621"/>
                    <a:pt x="0" y="10922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922"/>
                  </a:lnTo>
                  <a:lnTo>
                    <a:pt x="8509" y="10922"/>
                  </a:lnTo>
                  <a:lnTo>
                    <a:pt x="8509" y="2413"/>
                  </a:lnTo>
                  <a:lnTo>
                    <a:pt x="9762109" y="2413"/>
                  </a:lnTo>
                  <a:lnTo>
                    <a:pt x="9762109" y="10922"/>
                  </a:lnTo>
                  <a:lnTo>
                    <a:pt x="9753600" y="10922"/>
                  </a:lnTo>
                  <a:lnTo>
                    <a:pt x="9753600" y="8509"/>
                  </a:lnTo>
                  <a:lnTo>
                    <a:pt x="9762109" y="8509"/>
                  </a:lnTo>
                  <a:lnTo>
                    <a:pt x="9762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875520" y="7315200"/>
            <a:ext cx="7406640" cy="548640"/>
            <a:chOff x="0" y="0"/>
            <a:chExt cx="9875520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9875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4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⚙ 100 trees  ·  Max depth 10  ·  40 bins/feature  ·  80/20 split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875520" y="7863840"/>
            <a:ext cx="7406640" cy="548640"/>
            <a:chOff x="0" y="0"/>
            <a:chExt cx="9875520" cy="7315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9875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Features: typeIndex, Hotspot_ID, Hour, DayOfWeek, Lat, Lon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07840" y="274320"/>
            <a:ext cx="914400" cy="548640"/>
            <a:chOff x="0" y="0"/>
            <a:chExt cx="12192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&amp; Evaluation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1596647"/>
            <a:ext cx="16484603" cy="25403"/>
            <a:chOff x="0" y="0"/>
            <a:chExt cx="2197947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21995" y="1910715"/>
            <a:ext cx="3676650" cy="2487930"/>
            <a:chOff x="0" y="0"/>
            <a:chExt cx="4902200" cy="3317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4876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02200" cy="3317240"/>
            </a:xfrm>
            <a:custGeom>
              <a:avLst/>
              <a:gdLst/>
              <a:ahLst/>
              <a:cxnLst/>
              <a:rect r="r" b="b" t="t" l="l"/>
              <a:pathLst>
                <a:path h="3317240" w="4902200">
                  <a:moveTo>
                    <a:pt x="12700" y="0"/>
                  </a:moveTo>
                  <a:lnTo>
                    <a:pt x="4889500" y="0"/>
                  </a:lnTo>
                  <a:cubicBezTo>
                    <a:pt x="4896485" y="0"/>
                    <a:pt x="4902200" y="5715"/>
                    <a:pt x="4902200" y="12700"/>
                  </a:cubicBezTo>
                  <a:lnTo>
                    <a:pt x="4902200" y="3304540"/>
                  </a:lnTo>
                  <a:cubicBezTo>
                    <a:pt x="4902200" y="3311525"/>
                    <a:pt x="4896485" y="3317240"/>
                    <a:pt x="4889500" y="3317240"/>
                  </a:cubicBezTo>
                  <a:lnTo>
                    <a:pt x="12700" y="3317240"/>
                  </a:lnTo>
                  <a:cubicBezTo>
                    <a:pt x="5715" y="3317240"/>
                    <a:pt x="0" y="3311525"/>
                    <a:pt x="0" y="33045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304540"/>
                  </a:lnTo>
                  <a:lnTo>
                    <a:pt x="12700" y="3304540"/>
                  </a:lnTo>
                  <a:lnTo>
                    <a:pt x="12700" y="3291840"/>
                  </a:lnTo>
                  <a:lnTo>
                    <a:pt x="4889500" y="3291840"/>
                  </a:lnTo>
                  <a:lnTo>
                    <a:pt x="4889500" y="3304540"/>
                  </a:lnTo>
                  <a:lnTo>
                    <a:pt x="4876800" y="3304540"/>
                  </a:lnTo>
                  <a:lnTo>
                    <a:pt x="4876800" y="12700"/>
                  </a:lnTo>
                  <a:lnTo>
                    <a:pt x="4889500" y="12700"/>
                  </a:lnTo>
                  <a:lnTo>
                    <a:pt x="4889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18823" y="1907543"/>
            <a:ext cx="3683003" cy="153419"/>
            <a:chOff x="0" y="0"/>
            <a:chExt cx="4910671" cy="2045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4876800" cy="170688"/>
            </a:xfrm>
            <a:custGeom>
              <a:avLst/>
              <a:gdLst/>
              <a:ahLst/>
              <a:cxnLst/>
              <a:rect r="r" b="b" t="t" l="l"/>
              <a:pathLst>
                <a:path h="1706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10582" cy="204472"/>
            </a:xfrm>
            <a:custGeom>
              <a:avLst/>
              <a:gdLst/>
              <a:ahLst/>
              <a:cxnLst/>
              <a:rect r="r" b="b" t="t" l="l"/>
              <a:pathLst>
                <a:path h="20447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87579"/>
                  </a:lnTo>
                  <a:cubicBezTo>
                    <a:pt x="4910582" y="196977"/>
                    <a:pt x="4902962" y="204470"/>
                    <a:pt x="48936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4893691" y="170688"/>
                  </a:lnTo>
                  <a:lnTo>
                    <a:pt x="4893691" y="187579"/>
                  </a:lnTo>
                  <a:lnTo>
                    <a:pt x="4876800" y="18757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31520" y="2103120"/>
            <a:ext cx="3657600" cy="1188720"/>
            <a:chOff x="0" y="0"/>
            <a:chExt cx="4876800" cy="1584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14300"/>
              <a:ext cx="487680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0.8402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1520" y="3255264"/>
            <a:ext cx="3657600" cy="548640"/>
            <a:chOff x="0" y="0"/>
            <a:chExt cx="48768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AUC-ROC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31520" y="3767328"/>
            <a:ext cx="3657600" cy="457200"/>
            <a:chOff x="0" y="0"/>
            <a:chExt cx="4876800" cy="609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876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Strong separability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928235" y="1910715"/>
            <a:ext cx="3676650" cy="2487930"/>
            <a:chOff x="0" y="0"/>
            <a:chExt cx="4902200" cy="3317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2700" y="12700"/>
              <a:ext cx="4876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02200" cy="3317240"/>
            </a:xfrm>
            <a:custGeom>
              <a:avLst/>
              <a:gdLst/>
              <a:ahLst/>
              <a:cxnLst/>
              <a:rect r="r" b="b" t="t" l="l"/>
              <a:pathLst>
                <a:path h="3317240" w="4902200">
                  <a:moveTo>
                    <a:pt x="12700" y="0"/>
                  </a:moveTo>
                  <a:lnTo>
                    <a:pt x="4889500" y="0"/>
                  </a:lnTo>
                  <a:cubicBezTo>
                    <a:pt x="4896485" y="0"/>
                    <a:pt x="4902200" y="5715"/>
                    <a:pt x="4902200" y="12700"/>
                  </a:cubicBezTo>
                  <a:lnTo>
                    <a:pt x="4902200" y="3304540"/>
                  </a:lnTo>
                  <a:cubicBezTo>
                    <a:pt x="4902200" y="3311525"/>
                    <a:pt x="4896485" y="3317240"/>
                    <a:pt x="4889500" y="3317240"/>
                  </a:cubicBezTo>
                  <a:lnTo>
                    <a:pt x="12700" y="3317240"/>
                  </a:lnTo>
                  <a:cubicBezTo>
                    <a:pt x="5715" y="3317240"/>
                    <a:pt x="0" y="3311525"/>
                    <a:pt x="0" y="33045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304540"/>
                  </a:lnTo>
                  <a:lnTo>
                    <a:pt x="12700" y="3304540"/>
                  </a:lnTo>
                  <a:lnTo>
                    <a:pt x="12700" y="3291840"/>
                  </a:lnTo>
                  <a:lnTo>
                    <a:pt x="4889500" y="3291840"/>
                  </a:lnTo>
                  <a:lnTo>
                    <a:pt x="4889500" y="3304540"/>
                  </a:lnTo>
                  <a:lnTo>
                    <a:pt x="4876800" y="3304540"/>
                  </a:lnTo>
                  <a:lnTo>
                    <a:pt x="4876800" y="12700"/>
                  </a:lnTo>
                  <a:lnTo>
                    <a:pt x="4889500" y="12700"/>
                  </a:lnTo>
                  <a:lnTo>
                    <a:pt x="4889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925063" y="1907543"/>
            <a:ext cx="3683003" cy="153419"/>
            <a:chOff x="0" y="0"/>
            <a:chExt cx="4910671" cy="20455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876800" cy="170688"/>
            </a:xfrm>
            <a:custGeom>
              <a:avLst/>
              <a:gdLst/>
              <a:ahLst/>
              <a:cxnLst/>
              <a:rect r="r" b="b" t="t" l="l"/>
              <a:pathLst>
                <a:path h="1706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10582" cy="204472"/>
            </a:xfrm>
            <a:custGeom>
              <a:avLst/>
              <a:gdLst/>
              <a:ahLst/>
              <a:cxnLst/>
              <a:rect r="r" b="b" t="t" l="l"/>
              <a:pathLst>
                <a:path h="20447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87579"/>
                  </a:lnTo>
                  <a:cubicBezTo>
                    <a:pt x="4910582" y="196977"/>
                    <a:pt x="4902962" y="204470"/>
                    <a:pt x="48936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4893691" y="170688"/>
                  </a:lnTo>
                  <a:lnTo>
                    <a:pt x="4893691" y="187579"/>
                  </a:lnTo>
                  <a:lnTo>
                    <a:pt x="4876800" y="18757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937760" y="2103120"/>
            <a:ext cx="3657600" cy="1188720"/>
            <a:chOff x="0" y="0"/>
            <a:chExt cx="4876800" cy="1584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14300"/>
              <a:ext cx="487680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87.5%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937760" y="3255264"/>
            <a:ext cx="3657600" cy="548640"/>
            <a:chOff x="0" y="0"/>
            <a:chExt cx="487680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Precision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937760" y="3767328"/>
            <a:ext cx="3657600" cy="457200"/>
            <a:chOff x="0" y="0"/>
            <a:chExt cx="487680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876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Correct arrest pred.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34475" y="1910715"/>
            <a:ext cx="3676650" cy="2487930"/>
            <a:chOff x="0" y="0"/>
            <a:chExt cx="4902200" cy="3317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4876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02200" cy="3317240"/>
            </a:xfrm>
            <a:custGeom>
              <a:avLst/>
              <a:gdLst/>
              <a:ahLst/>
              <a:cxnLst/>
              <a:rect r="r" b="b" t="t" l="l"/>
              <a:pathLst>
                <a:path h="3317240" w="4902200">
                  <a:moveTo>
                    <a:pt x="12700" y="0"/>
                  </a:moveTo>
                  <a:lnTo>
                    <a:pt x="4889500" y="0"/>
                  </a:lnTo>
                  <a:cubicBezTo>
                    <a:pt x="4896485" y="0"/>
                    <a:pt x="4902200" y="5715"/>
                    <a:pt x="4902200" y="12700"/>
                  </a:cubicBezTo>
                  <a:lnTo>
                    <a:pt x="4902200" y="3304540"/>
                  </a:lnTo>
                  <a:cubicBezTo>
                    <a:pt x="4902200" y="3311525"/>
                    <a:pt x="4896485" y="3317240"/>
                    <a:pt x="4889500" y="3317240"/>
                  </a:cubicBezTo>
                  <a:lnTo>
                    <a:pt x="12700" y="3317240"/>
                  </a:lnTo>
                  <a:cubicBezTo>
                    <a:pt x="5715" y="3317240"/>
                    <a:pt x="0" y="3311525"/>
                    <a:pt x="0" y="33045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304540"/>
                  </a:lnTo>
                  <a:lnTo>
                    <a:pt x="12700" y="3304540"/>
                  </a:lnTo>
                  <a:lnTo>
                    <a:pt x="12700" y="3291840"/>
                  </a:lnTo>
                  <a:lnTo>
                    <a:pt x="4889500" y="3291840"/>
                  </a:lnTo>
                  <a:lnTo>
                    <a:pt x="4889500" y="3304540"/>
                  </a:lnTo>
                  <a:lnTo>
                    <a:pt x="4876800" y="3304540"/>
                  </a:lnTo>
                  <a:lnTo>
                    <a:pt x="4876800" y="12700"/>
                  </a:lnTo>
                  <a:lnTo>
                    <a:pt x="4889500" y="12700"/>
                  </a:lnTo>
                  <a:lnTo>
                    <a:pt x="4889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131303" y="1907543"/>
            <a:ext cx="3683003" cy="153419"/>
            <a:chOff x="0" y="0"/>
            <a:chExt cx="4910671" cy="20455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4876800" cy="170688"/>
            </a:xfrm>
            <a:custGeom>
              <a:avLst/>
              <a:gdLst/>
              <a:ahLst/>
              <a:cxnLst/>
              <a:rect r="r" b="b" t="t" l="l"/>
              <a:pathLst>
                <a:path h="1706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10582" cy="204472"/>
            </a:xfrm>
            <a:custGeom>
              <a:avLst/>
              <a:gdLst/>
              <a:ahLst/>
              <a:cxnLst/>
              <a:rect r="r" b="b" t="t" l="l"/>
              <a:pathLst>
                <a:path h="20447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87579"/>
                  </a:lnTo>
                  <a:cubicBezTo>
                    <a:pt x="4910582" y="196977"/>
                    <a:pt x="4902962" y="204470"/>
                    <a:pt x="48936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4893691" y="170688"/>
                  </a:lnTo>
                  <a:lnTo>
                    <a:pt x="4893691" y="187579"/>
                  </a:lnTo>
                  <a:lnTo>
                    <a:pt x="4876800" y="18757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144000" y="2103120"/>
            <a:ext cx="3657600" cy="1188720"/>
            <a:chOff x="0" y="0"/>
            <a:chExt cx="4876800" cy="1584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14300"/>
              <a:ext cx="487680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86.5%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0" y="3255264"/>
            <a:ext cx="3657600" cy="548640"/>
            <a:chOff x="0" y="0"/>
            <a:chExt cx="487680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Recall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144000" y="3767328"/>
            <a:ext cx="3657600" cy="457200"/>
            <a:chOff x="0" y="0"/>
            <a:chExt cx="4876800" cy="609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876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Actual arrests found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340715" y="1910715"/>
            <a:ext cx="3676650" cy="2487930"/>
            <a:chOff x="0" y="0"/>
            <a:chExt cx="4902200" cy="33172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2700" y="12700"/>
              <a:ext cx="4876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902200" cy="3317240"/>
            </a:xfrm>
            <a:custGeom>
              <a:avLst/>
              <a:gdLst/>
              <a:ahLst/>
              <a:cxnLst/>
              <a:rect r="r" b="b" t="t" l="l"/>
              <a:pathLst>
                <a:path h="3317240" w="4902200">
                  <a:moveTo>
                    <a:pt x="12700" y="0"/>
                  </a:moveTo>
                  <a:lnTo>
                    <a:pt x="4889500" y="0"/>
                  </a:lnTo>
                  <a:cubicBezTo>
                    <a:pt x="4896485" y="0"/>
                    <a:pt x="4902200" y="5715"/>
                    <a:pt x="4902200" y="12700"/>
                  </a:cubicBezTo>
                  <a:lnTo>
                    <a:pt x="4902200" y="3304540"/>
                  </a:lnTo>
                  <a:cubicBezTo>
                    <a:pt x="4902200" y="3311525"/>
                    <a:pt x="4896485" y="3317240"/>
                    <a:pt x="4889500" y="3317240"/>
                  </a:cubicBezTo>
                  <a:lnTo>
                    <a:pt x="12700" y="3317240"/>
                  </a:lnTo>
                  <a:cubicBezTo>
                    <a:pt x="5715" y="3317240"/>
                    <a:pt x="0" y="3311525"/>
                    <a:pt x="0" y="33045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304540"/>
                  </a:lnTo>
                  <a:lnTo>
                    <a:pt x="12700" y="3304540"/>
                  </a:lnTo>
                  <a:lnTo>
                    <a:pt x="12700" y="3291840"/>
                  </a:lnTo>
                  <a:lnTo>
                    <a:pt x="4889500" y="3291840"/>
                  </a:lnTo>
                  <a:lnTo>
                    <a:pt x="4889500" y="3304540"/>
                  </a:lnTo>
                  <a:lnTo>
                    <a:pt x="4876800" y="3304540"/>
                  </a:lnTo>
                  <a:lnTo>
                    <a:pt x="4876800" y="12700"/>
                  </a:lnTo>
                  <a:lnTo>
                    <a:pt x="4889500" y="12700"/>
                  </a:lnTo>
                  <a:lnTo>
                    <a:pt x="4889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337543" y="1907543"/>
            <a:ext cx="3683003" cy="153419"/>
            <a:chOff x="0" y="0"/>
            <a:chExt cx="4910671" cy="20455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4876800" cy="170688"/>
            </a:xfrm>
            <a:custGeom>
              <a:avLst/>
              <a:gdLst/>
              <a:ahLst/>
              <a:cxnLst/>
              <a:rect r="r" b="b" t="t" l="l"/>
              <a:pathLst>
                <a:path h="1706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910582" cy="204472"/>
            </a:xfrm>
            <a:custGeom>
              <a:avLst/>
              <a:gdLst/>
              <a:ahLst/>
              <a:cxnLst/>
              <a:rect r="r" b="b" t="t" l="l"/>
              <a:pathLst>
                <a:path h="20447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87579"/>
                  </a:lnTo>
                  <a:cubicBezTo>
                    <a:pt x="4910582" y="196977"/>
                    <a:pt x="4902962" y="204470"/>
                    <a:pt x="48936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4893691" y="170688"/>
                  </a:lnTo>
                  <a:lnTo>
                    <a:pt x="4893691" y="187579"/>
                  </a:lnTo>
                  <a:lnTo>
                    <a:pt x="4876800" y="18757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350240" y="2103120"/>
            <a:ext cx="3657600" cy="1188720"/>
            <a:chOff x="0" y="0"/>
            <a:chExt cx="4876800" cy="15849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14300"/>
              <a:ext cx="487680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0.8494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350240" y="3255264"/>
            <a:ext cx="3657600" cy="548640"/>
            <a:chOff x="0" y="0"/>
            <a:chExt cx="487680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F1 Score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350240" y="3767328"/>
            <a:ext cx="3657600" cy="457200"/>
            <a:chOff x="0" y="0"/>
            <a:chExt cx="4876800" cy="609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4876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Balanced metric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31520" y="4663440"/>
            <a:ext cx="8229600" cy="640080"/>
            <a:chOff x="0" y="0"/>
            <a:chExt cx="10972800" cy="8534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Confusion Matrix  (1.58M test records)</a:t>
              </a:r>
            </a:p>
          </p:txBody>
        </p:sp>
      </p:grpSp>
      <p:graphicFrame>
        <p:nvGraphicFramePr>
          <p:cNvPr name="Table 73" id="73"/>
          <p:cNvGraphicFramePr>
            <a:graphicFrameLocks noGrp="true"/>
          </p:cNvGraphicFramePr>
          <p:nvPr/>
        </p:nvGraphicFramePr>
        <p:xfrm>
          <a:off x="731520" y="5394960"/>
          <a:ext cx="8204200" cy="2133600"/>
        </p:xfrm>
        <a:graphic>
          <a:graphicData uri="http://schemas.openxmlformats.org/drawingml/2006/table">
            <a:tbl>
              <a:tblPr/>
              <a:tblGrid>
                <a:gridCol w="3274188"/>
                <a:gridCol w="2465006"/>
                <a:gridCol w="2465006"/>
              </a:tblGrid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Predicted: No Arrest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Predicted: Arrest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E3A5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Actual: No Arrest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6653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TN = 1,172,130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991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FP = 13,755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E3A5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Actual: Arrest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991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FN = 199,289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6653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TP = 195,522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grpSp>
        <p:nvGrpSpPr>
          <p:cNvPr name="Group 74" id="74"/>
          <p:cNvGrpSpPr/>
          <p:nvPr/>
        </p:nvGrpSpPr>
        <p:grpSpPr>
          <a:xfrm rot="0">
            <a:off x="9509760" y="4663440"/>
            <a:ext cx="8229600" cy="640080"/>
            <a:chOff x="0" y="0"/>
            <a:chExt cx="1097280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Performance Summary</a:t>
              </a:r>
            </a:p>
          </p:txBody>
        </p:sp>
      </p:grpSp>
      <p:pic>
        <p:nvPicPr>
          <p:cNvPr name="Picture 77" id="7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705088" y="4498848"/>
            <a:ext cx="9656064" cy="6089904"/>
          </a:xfrm>
          <a:prstGeom prst="rect">
            <a:avLst/>
          </a:prstGeom>
        </p:spPr>
      </p:pic>
      <p:grpSp>
        <p:nvGrpSpPr>
          <p:cNvPr name="Group 78" id="78"/>
          <p:cNvGrpSpPr/>
          <p:nvPr/>
        </p:nvGrpSpPr>
        <p:grpSpPr>
          <a:xfrm rot="0">
            <a:off x="914400" y="9509760"/>
            <a:ext cx="16459200" cy="457200"/>
            <a:chOff x="0" y="0"/>
            <a:chExt cx="21945600" cy="6096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★  Class imbalance: only 24.8% of incidents resulted in arrest. Model is intentionally conservative — threshold adjustable.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07840" y="274320"/>
            <a:ext cx="914400" cy="548640"/>
            <a:chOff x="0" y="0"/>
            <a:chExt cx="12192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Comparison with Existing Approaches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1596647"/>
            <a:ext cx="16484603" cy="25403"/>
            <a:chOff x="0" y="0"/>
            <a:chExt cx="2197947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14400" y="1828800"/>
          <a:ext cx="16408400" cy="6310993"/>
        </p:xfrm>
        <a:graphic>
          <a:graphicData uri="http://schemas.openxmlformats.org/drawingml/2006/table">
            <a:tbl>
              <a:tblPr/>
              <a:tblGrid>
                <a:gridCol w="2916480"/>
                <a:gridCol w="4497307"/>
                <a:gridCol w="4497307"/>
                <a:gridCol w="4497307"/>
              </a:tblGrid>
              <a:tr h="9248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Dimension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Ref. Pa</a:t>
                      </a: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per 1 Bogomolov et al. (ICMI'14)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This Project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Ref. Paper 2 — Kadar &amp; Pletikosa 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(EPJ DS '18)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9248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Task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Hot</a:t>
                      </a: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spot forecasting — will area be a crime hotspot tomorrow?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</a:t>
                      </a: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rest outcome prediction + hotspot zone detection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Long-term crime count prediction (yearly)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</a:tr>
              <a:tr h="9248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Mobile pho</a:t>
                      </a: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 + demographic data, London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Chic</a:t>
                      </a: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ago Open Data Portal — 7.8M records (2001–2026)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Foursquare, NYC subway &amp; taxi, census — New York City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</a:tr>
              <a:tr h="7618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Scale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Small c</a:t>
                      </a: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ity-level sample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Full</a:t>
                      </a: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7.8M records — no sampling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2,154 NYC census tracts, 2 years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</a:tr>
              <a:tr h="9248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ML Method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SVM</a:t>
                      </a: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+ demographic features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Bis</a:t>
                      </a: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ecting K-Means + Random Forest (classification)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Forest / Gradient Boosting (regression)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</a:tr>
              <a:tr h="9248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Features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Demographics</a:t>
                      </a: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+ mobile call records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typeIndex</a:t>
                      </a: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+ Hotspot_ID + spatial + temporal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Census + POI + Foursquare checkins + taxi + subway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E"/>
                    </a:solidFill>
                  </a:tcPr>
                </a:tc>
              </a:tr>
              <a:tr h="9248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Best Metric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~70% h</a:t>
                      </a: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otspot 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AUC</a:t>
                      </a: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0.8402 · F1 0.8494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8FAF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R² up to 89% (temporal), 65% (geo out-of-sample)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36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901703" y="7942583"/>
            <a:ext cx="16484603" cy="1854203"/>
            <a:chOff x="0" y="0"/>
            <a:chExt cx="21979471" cy="24722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19455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6203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793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2455291"/>
                  </a:lnTo>
                  <a:cubicBezTo>
                    <a:pt x="21979382" y="2464689"/>
                    <a:pt x="21971763" y="2472182"/>
                    <a:pt x="219624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962490" y="2438400"/>
                  </a:lnTo>
                  <a:lnTo>
                    <a:pt x="21962490" y="2455291"/>
                  </a:lnTo>
                  <a:lnTo>
                    <a:pt x="21945600" y="245529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01703" y="7942583"/>
            <a:ext cx="171707" cy="1854203"/>
            <a:chOff x="0" y="0"/>
            <a:chExt cx="228943" cy="24722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1600" y="8083296"/>
            <a:ext cx="4023360" cy="548640"/>
            <a:chOff x="0" y="0"/>
            <a:chExt cx="536448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364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Differentiator: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71600" y="8631936"/>
            <a:ext cx="15727680" cy="1046504"/>
            <a:chOff x="0" y="0"/>
            <a:chExt cx="20970240" cy="13953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970239" cy="1395338"/>
            </a:xfrm>
            <a:custGeom>
              <a:avLst/>
              <a:gdLst/>
              <a:ahLst/>
              <a:cxnLst/>
              <a:rect r="r" b="b" t="t" l="l"/>
              <a:pathLst>
                <a:path h="1395338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95338"/>
                  </a:lnTo>
                  <a:lnTo>
                    <a:pt x="0" y="13953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79" r="0" b="-24089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0970240" cy="1442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8FA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</a:t>
              </a:r>
              <a:r>
                <a:rPr lang="en-US" sz="2100">
                  <a:solidFill>
                    <a:srgbClr val="F8FA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oth reference papers treat clustering and classification as separate pipelines — Bogomolov et al. use mobile data as raw features, while Kadar &amp; Pletikosa predict crime counts without linking spatial zones to a classifier. This project's novelty: BKM cluster assignments (Hotspot_ID) directly feed the Random Forest, fusing geographic and temporal context into one compact signal.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07840" y="274320"/>
            <a:ext cx="914400" cy="548640"/>
            <a:chOff x="0" y="0"/>
            <a:chExt cx="12192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19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Challenges, Limitations &amp; Future Work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1596647"/>
            <a:ext cx="16484603" cy="25403"/>
            <a:chOff x="0" y="0"/>
            <a:chExt cx="2197947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4875" y="1819275"/>
            <a:ext cx="7700010" cy="7151370"/>
            <a:chOff x="0" y="0"/>
            <a:chExt cx="10266680" cy="9535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10241280" cy="9509760"/>
            </a:xfrm>
            <a:custGeom>
              <a:avLst/>
              <a:gdLst/>
              <a:ahLst/>
              <a:cxnLst/>
              <a:rect r="r" b="b" t="t" l="l"/>
              <a:pathLst>
                <a:path h="9509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EF2F2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66680" cy="9535160"/>
            </a:xfrm>
            <a:custGeom>
              <a:avLst/>
              <a:gdLst/>
              <a:ahLst/>
              <a:cxnLst/>
              <a:rect r="r" b="b" t="t" l="l"/>
              <a:pathLst>
                <a:path h="9535160" w="10266680">
                  <a:moveTo>
                    <a:pt x="12700" y="0"/>
                  </a:moveTo>
                  <a:lnTo>
                    <a:pt x="10253980" y="0"/>
                  </a:lnTo>
                  <a:cubicBezTo>
                    <a:pt x="10260965" y="0"/>
                    <a:pt x="10266680" y="5715"/>
                    <a:pt x="10266680" y="12700"/>
                  </a:cubicBezTo>
                  <a:lnTo>
                    <a:pt x="10266680" y="9522460"/>
                  </a:lnTo>
                  <a:cubicBezTo>
                    <a:pt x="10266680" y="9529445"/>
                    <a:pt x="10260965" y="9535160"/>
                    <a:pt x="10253980" y="9535160"/>
                  </a:cubicBezTo>
                  <a:lnTo>
                    <a:pt x="12700" y="9535160"/>
                  </a:lnTo>
                  <a:cubicBezTo>
                    <a:pt x="5715" y="9535160"/>
                    <a:pt x="0" y="9529445"/>
                    <a:pt x="0" y="95224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522460"/>
                  </a:lnTo>
                  <a:lnTo>
                    <a:pt x="12700" y="9522460"/>
                  </a:lnTo>
                  <a:lnTo>
                    <a:pt x="12700" y="9509760"/>
                  </a:lnTo>
                  <a:lnTo>
                    <a:pt x="10253980" y="9509760"/>
                  </a:lnTo>
                  <a:lnTo>
                    <a:pt x="10253980" y="9522460"/>
                  </a:lnTo>
                  <a:lnTo>
                    <a:pt x="10241280" y="9522460"/>
                  </a:lnTo>
                  <a:lnTo>
                    <a:pt x="10241280" y="12700"/>
                  </a:lnTo>
                  <a:lnTo>
                    <a:pt x="10253980" y="12700"/>
                  </a:lnTo>
                  <a:lnTo>
                    <a:pt x="102539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ECAC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88720" y="2011680"/>
            <a:ext cx="7132320" cy="694944"/>
            <a:chOff x="0" y="0"/>
            <a:chExt cx="9509760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9760" cy="926592"/>
            </a:xfrm>
            <a:custGeom>
              <a:avLst/>
              <a:gdLst/>
              <a:ahLst/>
              <a:cxnLst/>
              <a:rect r="r" b="b" t="t" l="l"/>
              <a:pathLst>
                <a:path h="92659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978" r="0" b="-14997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50976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B91C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Challenges &amp; Limitations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" y="2834640"/>
            <a:ext cx="7040880" cy="822960"/>
            <a:chOff x="0" y="0"/>
            <a:chExt cx="938784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8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387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Scale: 7.8M rows — standard Pandas operations impractically slow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88720" y="3822192"/>
            <a:ext cx="7040880" cy="822960"/>
            <a:chOff x="0" y="0"/>
            <a:chExt cx="938784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8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387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 imbalance: only 24.8% arrests; model skews conservative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8720" y="4809744"/>
            <a:ext cx="7040880" cy="822960"/>
            <a:chOff x="0" y="0"/>
            <a:chExt cx="938784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8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387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Midnight spike partly a recording artifact, not pure signal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8720" y="5797296"/>
            <a:ext cx="7040880" cy="822960"/>
            <a:chOff x="0" y="0"/>
            <a:chExt cx="938784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8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387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K=30 clusters chosen without exhaustive elbow analysis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8720" y="6784848"/>
            <a:ext cx="7040880" cy="822960"/>
            <a:chOff x="0" y="0"/>
            <a:chExt cx="938784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8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387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causal inference — correlations, not policy explanations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88720" y="7772400"/>
            <a:ext cx="7040880" cy="822960"/>
            <a:chOff x="0" y="0"/>
            <a:chExt cx="938784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8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387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limited to reported crimes; dark figure not captured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34475" y="1819275"/>
            <a:ext cx="8248650" cy="7151370"/>
            <a:chOff x="0" y="0"/>
            <a:chExt cx="10998200" cy="9535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00" y="12700"/>
              <a:ext cx="10972800" cy="9509760"/>
            </a:xfrm>
            <a:custGeom>
              <a:avLst/>
              <a:gdLst/>
              <a:ahLst/>
              <a:cxnLst/>
              <a:rect r="r" b="b" t="t" l="l"/>
              <a:pathLst>
                <a:path h="95097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98200" cy="9535160"/>
            </a:xfrm>
            <a:custGeom>
              <a:avLst/>
              <a:gdLst/>
              <a:ahLst/>
              <a:cxnLst/>
              <a:rect r="r" b="b" t="t" l="l"/>
              <a:pathLst>
                <a:path h="953516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9522460"/>
                  </a:lnTo>
                  <a:cubicBezTo>
                    <a:pt x="10998200" y="9529445"/>
                    <a:pt x="10992485" y="9535160"/>
                    <a:pt x="10985500" y="9535160"/>
                  </a:cubicBezTo>
                  <a:lnTo>
                    <a:pt x="12700" y="9535160"/>
                  </a:lnTo>
                  <a:cubicBezTo>
                    <a:pt x="5715" y="9535160"/>
                    <a:pt x="0" y="9529445"/>
                    <a:pt x="0" y="95224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522460"/>
                  </a:lnTo>
                  <a:lnTo>
                    <a:pt x="12700" y="9522460"/>
                  </a:lnTo>
                  <a:lnTo>
                    <a:pt x="12700" y="9509760"/>
                  </a:lnTo>
                  <a:lnTo>
                    <a:pt x="10985500" y="9509760"/>
                  </a:lnTo>
                  <a:lnTo>
                    <a:pt x="10985500" y="9522460"/>
                  </a:lnTo>
                  <a:lnTo>
                    <a:pt x="10972800" y="952246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BBF7D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418320" y="2011680"/>
            <a:ext cx="7589520" cy="694944"/>
            <a:chOff x="0" y="0"/>
            <a:chExt cx="10119360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119360" cy="926592"/>
            </a:xfrm>
            <a:custGeom>
              <a:avLst/>
              <a:gdLst/>
              <a:ahLst/>
              <a:cxnLst/>
              <a:rect r="r" b="b" t="t" l="l"/>
              <a:pathLst>
                <a:path h="926592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797" r="0" b="-16279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011936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✦  Future Improvements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18320" y="2834640"/>
            <a:ext cx="7589520" cy="822960"/>
            <a:chOff x="0" y="0"/>
            <a:chExt cx="1011936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119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695" r="0" b="-12969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01193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DBSCAN / HDBSCAN for density-based hotspot detection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418320" y="3822192"/>
            <a:ext cx="7589520" cy="822960"/>
            <a:chOff x="0" y="0"/>
            <a:chExt cx="1011936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119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695" r="0" b="-12969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1193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 / LightGBM for arrest classification uplift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18320" y="4809744"/>
            <a:ext cx="7589520" cy="822960"/>
            <a:chOff x="0" y="0"/>
            <a:chExt cx="1011936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119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695" r="0" b="-12969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01193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streaming pipeline with Kafka + Spark Structured Streaming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18320" y="5797296"/>
            <a:ext cx="7589520" cy="822960"/>
            <a:chOff x="0" y="0"/>
            <a:chExt cx="10119360" cy="1097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119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695" r="0" b="-12969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01193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Address class imbalance via SMOTE or cost-sensitive learning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418320" y="6784848"/>
            <a:ext cx="7589520" cy="822960"/>
            <a:chOff x="0" y="0"/>
            <a:chExt cx="10119360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19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695" r="0" b="-12969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01193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Interactive web dashboard for patrol resource allocation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418320" y="7772400"/>
            <a:ext cx="7589520" cy="822960"/>
            <a:chOff x="0" y="0"/>
            <a:chExt cx="10119360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119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695" r="0" b="-12969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01193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Expand to socioeconomic overlay (poverty index, school proximity)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-6353"/>
            <a:ext cx="12697" cy="10299697"/>
            <a:chOff x="0" y="0"/>
            <a:chExt cx="16929" cy="13732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9567" y="-6353"/>
            <a:ext cx="12697" cy="10299697"/>
            <a:chOff x="0" y="0"/>
            <a:chExt cx="16929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285487" y="-6353"/>
            <a:ext cx="12697" cy="10299697"/>
            <a:chOff x="0" y="0"/>
            <a:chExt cx="16929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31407" y="-6353"/>
            <a:ext cx="12697" cy="10299697"/>
            <a:chOff x="0" y="0"/>
            <a:chExt cx="16929" cy="13732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77327" y="-6353"/>
            <a:ext cx="12697" cy="10299697"/>
            <a:chOff x="0" y="0"/>
            <a:chExt cx="16929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3247" y="-6353"/>
            <a:ext cx="12697" cy="10299697"/>
            <a:chOff x="0" y="0"/>
            <a:chExt cx="16929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869167" y="-6353"/>
            <a:ext cx="12697" cy="10299697"/>
            <a:chOff x="0" y="0"/>
            <a:chExt cx="16929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515087" y="-6353"/>
            <a:ext cx="12697" cy="10299697"/>
            <a:chOff x="0" y="0"/>
            <a:chExt cx="16929" cy="137329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161007" y="-6353"/>
            <a:ext cx="12697" cy="10299697"/>
            <a:chOff x="0" y="0"/>
            <a:chExt cx="16929" cy="137329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806927" y="-6353"/>
            <a:ext cx="12697" cy="10299697"/>
            <a:chOff x="0" y="0"/>
            <a:chExt cx="16929" cy="137329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452847" y="-6353"/>
            <a:ext cx="12697" cy="10299697"/>
            <a:chOff x="0" y="0"/>
            <a:chExt cx="16929" cy="137329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8098767" y="-6353"/>
            <a:ext cx="12697" cy="10299697"/>
            <a:chOff x="0" y="0"/>
            <a:chExt cx="16929" cy="137329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8509"/>
              <a:ext cx="16891" cy="13716001"/>
            </a:xfrm>
            <a:custGeom>
              <a:avLst/>
              <a:gdLst/>
              <a:ahLst/>
              <a:cxnLst/>
              <a:rect r="r" b="b" t="t" l="l"/>
              <a:pathLst>
                <a:path h="13716001" w="16891">
                  <a:moveTo>
                    <a:pt x="16891" y="0"/>
                  </a:moveTo>
                  <a:lnTo>
                    <a:pt x="16891" y="13716001"/>
                  </a:lnTo>
                  <a:lnTo>
                    <a:pt x="0" y="1371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007840" y="274320"/>
            <a:ext cx="914400" cy="548640"/>
            <a:chOff x="0" y="0"/>
            <a:chExt cx="12192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19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457200"/>
            <a:ext cx="16459200" cy="1005840"/>
            <a:chOff x="0" y="0"/>
            <a:chExt cx="21945600" cy="1341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Key Findings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01703" y="1596647"/>
            <a:ext cx="16484603" cy="25403"/>
            <a:chOff x="0" y="0"/>
            <a:chExt cx="21979471" cy="338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04875" y="1910715"/>
            <a:ext cx="16478250" cy="1335786"/>
            <a:chOff x="0" y="0"/>
            <a:chExt cx="21971000" cy="17810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00" y="12700"/>
              <a:ext cx="21945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62032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71000" cy="1781048"/>
            </a:xfrm>
            <a:custGeom>
              <a:avLst/>
              <a:gdLst/>
              <a:ahLst/>
              <a:cxnLst/>
              <a:rect r="r" b="b" t="t" l="l"/>
              <a:pathLst>
                <a:path h="1781048" w="21971000">
                  <a:moveTo>
                    <a:pt x="12700" y="0"/>
                  </a:moveTo>
                  <a:lnTo>
                    <a:pt x="21958300" y="0"/>
                  </a:lnTo>
                  <a:cubicBezTo>
                    <a:pt x="21965286" y="0"/>
                    <a:pt x="21971000" y="5715"/>
                    <a:pt x="21971000" y="12700"/>
                  </a:cubicBezTo>
                  <a:lnTo>
                    <a:pt x="21971000" y="1768348"/>
                  </a:lnTo>
                  <a:cubicBezTo>
                    <a:pt x="21971000" y="1775333"/>
                    <a:pt x="21965286" y="1781048"/>
                    <a:pt x="21958300" y="1781048"/>
                  </a:cubicBezTo>
                  <a:lnTo>
                    <a:pt x="12700" y="1781048"/>
                  </a:lnTo>
                  <a:cubicBezTo>
                    <a:pt x="5715" y="1781048"/>
                    <a:pt x="0" y="1775333"/>
                    <a:pt x="0" y="176834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68348"/>
                  </a:lnTo>
                  <a:lnTo>
                    <a:pt x="12700" y="1768348"/>
                  </a:lnTo>
                  <a:lnTo>
                    <a:pt x="12700" y="1755648"/>
                  </a:lnTo>
                  <a:lnTo>
                    <a:pt x="21958300" y="1755648"/>
                  </a:lnTo>
                  <a:lnTo>
                    <a:pt x="21958300" y="1768348"/>
                  </a:lnTo>
                  <a:lnTo>
                    <a:pt x="21945600" y="1768348"/>
                  </a:lnTo>
                  <a:lnTo>
                    <a:pt x="21945600" y="12700"/>
                  </a:lnTo>
                  <a:lnTo>
                    <a:pt x="21958300" y="12700"/>
                  </a:lnTo>
                  <a:lnTo>
                    <a:pt x="219583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76023" y="2145287"/>
            <a:ext cx="848363" cy="848363"/>
            <a:chOff x="0" y="0"/>
            <a:chExt cx="1131151" cy="113115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1062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062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lnTo>
                    <a:pt x="565531" y="16891"/>
                  </a:lnTo>
                  <a:lnTo>
                    <a:pt x="565531" y="0"/>
                  </a:lnTo>
                  <a:cubicBezTo>
                    <a:pt x="877951" y="0"/>
                    <a:pt x="1131062" y="253238"/>
                    <a:pt x="1131062" y="565531"/>
                  </a:cubicBezTo>
                  <a:lnTo>
                    <a:pt x="1114171" y="565531"/>
                  </a:lnTo>
                  <a:lnTo>
                    <a:pt x="1131062" y="565531"/>
                  </a:lnTo>
                  <a:cubicBezTo>
                    <a:pt x="1131062" y="877951"/>
                    <a:pt x="877824" y="1131062"/>
                    <a:pt x="565531" y="1131062"/>
                  </a:cubicBezTo>
                  <a:lnTo>
                    <a:pt x="565531" y="1114171"/>
                  </a:lnTo>
                  <a:lnTo>
                    <a:pt x="565531" y="1131062"/>
                  </a:lnTo>
                  <a:cubicBezTo>
                    <a:pt x="253238" y="1131189"/>
                    <a:pt x="0" y="877951"/>
                    <a:pt x="0" y="565531"/>
                  </a:cubicBezTo>
                  <a:lnTo>
                    <a:pt x="16891" y="565531"/>
                  </a:lnTo>
                  <a:lnTo>
                    <a:pt x="33909" y="565531"/>
                  </a:lnTo>
                  <a:lnTo>
                    <a:pt x="16891" y="565531"/>
                  </a:lnTo>
                  <a:lnTo>
                    <a:pt x="0" y="565531"/>
                  </a:lnTo>
                  <a:moveTo>
                    <a:pt x="33909" y="565531"/>
                  </a:moveTo>
                  <a:cubicBezTo>
                    <a:pt x="33909" y="574929"/>
                    <a:pt x="26289" y="582422"/>
                    <a:pt x="17018" y="582422"/>
                  </a:cubicBezTo>
                  <a:cubicBezTo>
                    <a:pt x="7747" y="582422"/>
                    <a:pt x="0" y="574929"/>
                    <a:pt x="0" y="565531"/>
                  </a:cubicBezTo>
                  <a:cubicBezTo>
                    <a:pt x="0" y="556133"/>
                    <a:pt x="7620" y="548640"/>
                    <a:pt x="16891" y="548640"/>
                  </a:cubicBezTo>
                  <a:cubicBezTo>
                    <a:pt x="26162" y="548640"/>
                    <a:pt x="33782" y="556260"/>
                    <a:pt x="33782" y="565531"/>
                  </a:cubicBezTo>
                  <a:cubicBezTo>
                    <a:pt x="33782" y="859155"/>
                    <a:pt x="271780" y="1097280"/>
                    <a:pt x="565531" y="1097280"/>
                  </a:cubicBezTo>
                  <a:cubicBezTo>
                    <a:pt x="859155" y="1097280"/>
                    <a:pt x="1097280" y="859282"/>
                    <a:pt x="1097280" y="565531"/>
                  </a:cubicBezTo>
                  <a:cubicBezTo>
                    <a:pt x="1097280" y="271907"/>
                    <a:pt x="859282" y="33782"/>
                    <a:pt x="565531" y="33782"/>
                  </a:cubicBezTo>
                  <a:lnTo>
                    <a:pt x="565531" y="16891"/>
                  </a:lnTo>
                  <a:lnTo>
                    <a:pt x="565531" y="33909"/>
                  </a:lnTo>
                  <a:cubicBezTo>
                    <a:pt x="271907" y="33909"/>
                    <a:pt x="33909" y="271907"/>
                    <a:pt x="33909" y="565531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8720" y="2157984"/>
            <a:ext cx="822960" cy="822960"/>
            <a:chOff x="0" y="0"/>
            <a:chExt cx="109728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377440" y="2139696"/>
            <a:ext cx="14630400" cy="877824"/>
            <a:chOff x="0" y="0"/>
            <a:chExt cx="19507200" cy="117043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507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950720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8FA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Theft dominates (1.67M incidents) but has only a 10.5% arrest rate — prevention-first strategy needed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04875" y="3428619"/>
            <a:ext cx="16478250" cy="1335786"/>
            <a:chOff x="0" y="0"/>
            <a:chExt cx="21971000" cy="17810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2700" y="12700"/>
              <a:ext cx="21945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62032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71000" cy="1781048"/>
            </a:xfrm>
            <a:custGeom>
              <a:avLst/>
              <a:gdLst/>
              <a:ahLst/>
              <a:cxnLst/>
              <a:rect r="r" b="b" t="t" l="l"/>
              <a:pathLst>
                <a:path h="1781048" w="21971000">
                  <a:moveTo>
                    <a:pt x="12700" y="0"/>
                  </a:moveTo>
                  <a:lnTo>
                    <a:pt x="21958300" y="0"/>
                  </a:lnTo>
                  <a:cubicBezTo>
                    <a:pt x="21965286" y="0"/>
                    <a:pt x="21971000" y="5715"/>
                    <a:pt x="21971000" y="12700"/>
                  </a:cubicBezTo>
                  <a:lnTo>
                    <a:pt x="21971000" y="1768348"/>
                  </a:lnTo>
                  <a:cubicBezTo>
                    <a:pt x="21971000" y="1775333"/>
                    <a:pt x="21965286" y="1781048"/>
                    <a:pt x="21958300" y="1781048"/>
                  </a:cubicBezTo>
                  <a:lnTo>
                    <a:pt x="12700" y="1781048"/>
                  </a:lnTo>
                  <a:cubicBezTo>
                    <a:pt x="5715" y="1781048"/>
                    <a:pt x="0" y="1775333"/>
                    <a:pt x="0" y="176834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68348"/>
                  </a:lnTo>
                  <a:lnTo>
                    <a:pt x="12700" y="1768348"/>
                  </a:lnTo>
                  <a:lnTo>
                    <a:pt x="12700" y="1755648"/>
                  </a:lnTo>
                  <a:lnTo>
                    <a:pt x="21958300" y="1755648"/>
                  </a:lnTo>
                  <a:lnTo>
                    <a:pt x="21958300" y="1768348"/>
                  </a:lnTo>
                  <a:lnTo>
                    <a:pt x="21945600" y="1768348"/>
                  </a:lnTo>
                  <a:lnTo>
                    <a:pt x="21945600" y="12700"/>
                  </a:lnTo>
                  <a:lnTo>
                    <a:pt x="21958300" y="12700"/>
                  </a:lnTo>
                  <a:lnTo>
                    <a:pt x="219583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76023" y="3663191"/>
            <a:ext cx="848363" cy="848363"/>
            <a:chOff x="0" y="0"/>
            <a:chExt cx="1131151" cy="113115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31062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062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lnTo>
                    <a:pt x="565531" y="16891"/>
                  </a:lnTo>
                  <a:lnTo>
                    <a:pt x="565531" y="0"/>
                  </a:lnTo>
                  <a:cubicBezTo>
                    <a:pt x="877951" y="0"/>
                    <a:pt x="1131062" y="253238"/>
                    <a:pt x="1131062" y="565531"/>
                  </a:cubicBezTo>
                  <a:lnTo>
                    <a:pt x="1114171" y="565531"/>
                  </a:lnTo>
                  <a:lnTo>
                    <a:pt x="1131062" y="565531"/>
                  </a:lnTo>
                  <a:cubicBezTo>
                    <a:pt x="1131062" y="877951"/>
                    <a:pt x="877824" y="1131062"/>
                    <a:pt x="565531" y="1131062"/>
                  </a:cubicBezTo>
                  <a:lnTo>
                    <a:pt x="565531" y="1114171"/>
                  </a:lnTo>
                  <a:lnTo>
                    <a:pt x="565531" y="1131062"/>
                  </a:lnTo>
                  <a:cubicBezTo>
                    <a:pt x="253238" y="1131189"/>
                    <a:pt x="0" y="877951"/>
                    <a:pt x="0" y="565531"/>
                  </a:cubicBezTo>
                  <a:lnTo>
                    <a:pt x="16891" y="565531"/>
                  </a:lnTo>
                  <a:lnTo>
                    <a:pt x="33909" y="565531"/>
                  </a:lnTo>
                  <a:lnTo>
                    <a:pt x="16891" y="565531"/>
                  </a:lnTo>
                  <a:lnTo>
                    <a:pt x="0" y="565531"/>
                  </a:lnTo>
                  <a:moveTo>
                    <a:pt x="33909" y="565531"/>
                  </a:moveTo>
                  <a:cubicBezTo>
                    <a:pt x="33909" y="574929"/>
                    <a:pt x="26289" y="582422"/>
                    <a:pt x="17018" y="582422"/>
                  </a:cubicBezTo>
                  <a:cubicBezTo>
                    <a:pt x="7747" y="582422"/>
                    <a:pt x="0" y="574929"/>
                    <a:pt x="0" y="565531"/>
                  </a:cubicBezTo>
                  <a:cubicBezTo>
                    <a:pt x="0" y="556133"/>
                    <a:pt x="7620" y="548640"/>
                    <a:pt x="16891" y="548640"/>
                  </a:cubicBezTo>
                  <a:cubicBezTo>
                    <a:pt x="26162" y="548640"/>
                    <a:pt x="33782" y="556260"/>
                    <a:pt x="33782" y="565531"/>
                  </a:cubicBezTo>
                  <a:cubicBezTo>
                    <a:pt x="33782" y="859155"/>
                    <a:pt x="271780" y="1097280"/>
                    <a:pt x="565531" y="1097280"/>
                  </a:cubicBezTo>
                  <a:cubicBezTo>
                    <a:pt x="859155" y="1097280"/>
                    <a:pt x="1097280" y="859282"/>
                    <a:pt x="1097280" y="565531"/>
                  </a:cubicBezTo>
                  <a:cubicBezTo>
                    <a:pt x="1097280" y="271907"/>
                    <a:pt x="859282" y="33782"/>
                    <a:pt x="565531" y="33782"/>
                  </a:cubicBezTo>
                  <a:lnTo>
                    <a:pt x="565531" y="16891"/>
                  </a:lnTo>
                  <a:lnTo>
                    <a:pt x="565531" y="33909"/>
                  </a:lnTo>
                  <a:cubicBezTo>
                    <a:pt x="271907" y="33909"/>
                    <a:pt x="33909" y="271907"/>
                    <a:pt x="33909" y="565531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88720" y="3675888"/>
            <a:ext cx="822960" cy="822960"/>
            <a:chOff x="0" y="0"/>
            <a:chExt cx="1097280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377440" y="3657600"/>
            <a:ext cx="14630400" cy="877824"/>
            <a:chOff x="0" y="0"/>
            <a:chExt cx="19507200" cy="117043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9507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950720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8FA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~50% crime reduction since 2003 — genuine long-run improvement, not data artifact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04875" y="4946523"/>
            <a:ext cx="16478250" cy="1335786"/>
            <a:chOff x="0" y="0"/>
            <a:chExt cx="21971000" cy="17810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2700" y="12700"/>
              <a:ext cx="21945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62032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71000" cy="1781048"/>
            </a:xfrm>
            <a:custGeom>
              <a:avLst/>
              <a:gdLst/>
              <a:ahLst/>
              <a:cxnLst/>
              <a:rect r="r" b="b" t="t" l="l"/>
              <a:pathLst>
                <a:path h="1781048" w="21971000">
                  <a:moveTo>
                    <a:pt x="12700" y="0"/>
                  </a:moveTo>
                  <a:lnTo>
                    <a:pt x="21958300" y="0"/>
                  </a:lnTo>
                  <a:cubicBezTo>
                    <a:pt x="21965286" y="0"/>
                    <a:pt x="21971000" y="5715"/>
                    <a:pt x="21971000" y="12700"/>
                  </a:cubicBezTo>
                  <a:lnTo>
                    <a:pt x="21971000" y="1768348"/>
                  </a:lnTo>
                  <a:cubicBezTo>
                    <a:pt x="21971000" y="1775333"/>
                    <a:pt x="21965286" y="1781048"/>
                    <a:pt x="21958300" y="1781048"/>
                  </a:cubicBezTo>
                  <a:lnTo>
                    <a:pt x="12700" y="1781048"/>
                  </a:lnTo>
                  <a:cubicBezTo>
                    <a:pt x="5715" y="1781048"/>
                    <a:pt x="0" y="1775333"/>
                    <a:pt x="0" y="176834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68348"/>
                  </a:lnTo>
                  <a:lnTo>
                    <a:pt x="12700" y="1768348"/>
                  </a:lnTo>
                  <a:lnTo>
                    <a:pt x="12700" y="1755648"/>
                  </a:lnTo>
                  <a:lnTo>
                    <a:pt x="21958300" y="1755648"/>
                  </a:lnTo>
                  <a:lnTo>
                    <a:pt x="21958300" y="1768348"/>
                  </a:lnTo>
                  <a:lnTo>
                    <a:pt x="21945600" y="1768348"/>
                  </a:lnTo>
                  <a:lnTo>
                    <a:pt x="21945600" y="12700"/>
                  </a:lnTo>
                  <a:lnTo>
                    <a:pt x="21958300" y="12700"/>
                  </a:lnTo>
                  <a:lnTo>
                    <a:pt x="219583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76023" y="5181095"/>
            <a:ext cx="848363" cy="848363"/>
            <a:chOff x="0" y="0"/>
            <a:chExt cx="1131151" cy="113115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31062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062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lnTo>
                    <a:pt x="565531" y="16891"/>
                  </a:lnTo>
                  <a:lnTo>
                    <a:pt x="565531" y="0"/>
                  </a:lnTo>
                  <a:cubicBezTo>
                    <a:pt x="877951" y="0"/>
                    <a:pt x="1131062" y="253238"/>
                    <a:pt x="1131062" y="565531"/>
                  </a:cubicBezTo>
                  <a:lnTo>
                    <a:pt x="1114171" y="565531"/>
                  </a:lnTo>
                  <a:lnTo>
                    <a:pt x="1131062" y="565531"/>
                  </a:lnTo>
                  <a:cubicBezTo>
                    <a:pt x="1131062" y="877951"/>
                    <a:pt x="877824" y="1131062"/>
                    <a:pt x="565531" y="1131062"/>
                  </a:cubicBezTo>
                  <a:lnTo>
                    <a:pt x="565531" y="1114171"/>
                  </a:lnTo>
                  <a:lnTo>
                    <a:pt x="565531" y="1131062"/>
                  </a:lnTo>
                  <a:cubicBezTo>
                    <a:pt x="253238" y="1131189"/>
                    <a:pt x="0" y="877951"/>
                    <a:pt x="0" y="565531"/>
                  </a:cubicBezTo>
                  <a:lnTo>
                    <a:pt x="16891" y="565531"/>
                  </a:lnTo>
                  <a:lnTo>
                    <a:pt x="33909" y="565531"/>
                  </a:lnTo>
                  <a:lnTo>
                    <a:pt x="16891" y="565531"/>
                  </a:lnTo>
                  <a:lnTo>
                    <a:pt x="0" y="565531"/>
                  </a:lnTo>
                  <a:moveTo>
                    <a:pt x="33909" y="565531"/>
                  </a:moveTo>
                  <a:cubicBezTo>
                    <a:pt x="33909" y="574929"/>
                    <a:pt x="26289" y="582422"/>
                    <a:pt x="17018" y="582422"/>
                  </a:cubicBezTo>
                  <a:cubicBezTo>
                    <a:pt x="7747" y="582422"/>
                    <a:pt x="0" y="574929"/>
                    <a:pt x="0" y="565531"/>
                  </a:cubicBezTo>
                  <a:cubicBezTo>
                    <a:pt x="0" y="556133"/>
                    <a:pt x="7620" y="548640"/>
                    <a:pt x="16891" y="548640"/>
                  </a:cubicBezTo>
                  <a:cubicBezTo>
                    <a:pt x="26162" y="548640"/>
                    <a:pt x="33782" y="556260"/>
                    <a:pt x="33782" y="565531"/>
                  </a:cubicBezTo>
                  <a:cubicBezTo>
                    <a:pt x="33782" y="859155"/>
                    <a:pt x="271780" y="1097280"/>
                    <a:pt x="565531" y="1097280"/>
                  </a:cubicBezTo>
                  <a:cubicBezTo>
                    <a:pt x="859155" y="1097280"/>
                    <a:pt x="1097280" y="859282"/>
                    <a:pt x="1097280" y="565531"/>
                  </a:cubicBezTo>
                  <a:cubicBezTo>
                    <a:pt x="1097280" y="271907"/>
                    <a:pt x="859282" y="33782"/>
                    <a:pt x="565531" y="33782"/>
                  </a:cubicBezTo>
                  <a:lnTo>
                    <a:pt x="565531" y="16891"/>
                  </a:lnTo>
                  <a:lnTo>
                    <a:pt x="565531" y="33909"/>
                  </a:lnTo>
                  <a:cubicBezTo>
                    <a:pt x="271907" y="33909"/>
                    <a:pt x="33909" y="271907"/>
                    <a:pt x="33909" y="565531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88720" y="5193792"/>
            <a:ext cx="822960" cy="822960"/>
            <a:chOff x="0" y="0"/>
            <a:chExt cx="1097280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377440" y="5175504"/>
            <a:ext cx="14630400" cy="877824"/>
            <a:chOff x="0" y="0"/>
            <a:chExt cx="19507200" cy="117043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507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950720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8FA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Peak hour: midnight  ·  Peak day: Friday  ·  Peak month: July — clear scheduling signals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04875" y="6464427"/>
            <a:ext cx="16478250" cy="1335786"/>
            <a:chOff x="0" y="0"/>
            <a:chExt cx="21971000" cy="178104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2700" y="12700"/>
              <a:ext cx="21945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62032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971000" cy="1781048"/>
            </a:xfrm>
            <a:custGeom>
              <a:avLst/>
              <a:gdLst/>
              <a:ahLst/>
              <a:cxnLst/>
              <a:rect r="r" b="b" t="t" l="l"/>
              <a:pathLst>
                <a:path h="1781048" w="21971000">
                  <a:moveTo>
                    <a:pt x="12700" y="0"/>
                  </a:moveTo>
                  <a:lnTo>
                    <a:pt x="21958300" y="0"/>
                  </a:lnTo>
                  <a:cubicBezTo>
                    <a:pt x="21965286" y="0"/>
                    <a:pt x="21971000" y="5715"/>
                    <a:pt x="21971000" y="12700"/>
                  </a:cubicBezTo>
                  <a:lnTo>
                    <a:pt x="21971000" y="1768348"/>
                  </a:lnTo>
                  <a:cubicBezTo>
                    <a:pt x="21971000" y="1775333"/>
                    <a:pt x="21965286" y="1781048"/>
                    <a:pt x="21958300" y="1781048"/>
                  </a:cubicBezTo>
                  <a:lnTo>
                    <a:pt x="12700" y="1781048"/>
                  </a:lnTo>
                  <a:cubicBezTo>
                    <a:pt x="5715" y="1781048"/>
                    <a:pt x="0" y="1775333"/>
                    <a:pt x="0" y="176834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68348"/>
                  </a:lnTo>
                  <a:lnTo>
                    <a:pt x="12700" y="1768348"/>
                  </a:lnTo>
                  <a:lnTo>
                    <a:pt x="12700" y="1755648"/>
                  </a:lnTo>
                  <a:lnTo>
                    <a:pt x="21958300" y="1755648"/>
                  </a:lnTo>
                  <a:lnTo>
                    <a:pt x="21958300" y="1768348"/>
                  </a:lnTo>
                  <a:lnTo>
                    <a:pt x="21945600" y="1768348"/>
                  </a:lnTo>
                  <a:lnTo>
                    <a:pt x="21945600" y="12700"/>
                  </a:lnTo>
                  <a:lnTo>
                    <a:pt x="21958300" y="12700"/>
                  </a:lnTo>
                  <a:lnTo>
                    <a:pt x="219583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76023" y="6698999"/>
            <a:ext cx="848363" cy="848363"/>
            <a:chOff x="0" y="0"/>
            <a:chExt cx="1131151" cy="113115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31062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062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lnTo>
                    <a:pt x="565531" y="16891"/>
                  </a:lnTo>
                  <a:lnTo>
                    <a:pt x="565531" y="0"/>
                  </a:lnTo>
                  <a:cubicBezTo>
                    <a:pt x="877951" y="0"/>
                    <a:pt x="1131062" y="253238"/>
                    <a:pt x="1131062" y="565531"/>
                  </a:cubicBezTo>
                  <a:lnTo>
                    <a:pt x="1114171" y="565531"/>
                  </a:lnTo>
                  <a:lnTo>
                    <a:pt x="1131062" y="565531"/>
                  </a:lnTo>
                  <a:cubicBezTo>
                    <a:pt x="1131062" y="877951"/>
                    <a:pt x="877824" y="1131062"/>
                    <a:pt x="565531" y="1131062"/>
                  </a:cubicBezTo>
                  <a:lnTo>
                    <a:pt x="565531" y="1114171"/>
                  </a:lnTo>
                  <a:lnTo>
                    <a:pt x="565531" y="1131062"/>
                  </a:lnTo>
                  <a:cubicBezTo>
                    <a:pt x="253238" y="1131189"/>
                    <a:pt x="0" y="877951"/>
                    <a:pt x="0" y="565531"/>
                  </a:cubicBezTo>
                  <a:lnTo>
                    <a:pt x="16891" y="565531"/>
                  </a:lnTo>
                  <a:lnTo>
                    <a:pt x="33909" y="565531"/>
                  </a:lnTo>
                  <a:lnTo>
                    <a:pt x="16891" y="565531"/>
                  </a:lnTo>
                  <a:lnTo>
                    <a:pt x="0" y="565531"/>
                  </a:lnTo>
                  <a:moveTo>
                    <a:pt x="33909" y="565531"/>
                  </a:moveTo>
                  <a:cubicBezTo>
                    <a:pt x="33909" y="574929"/>
                    <a:pt x="26289" y="582422"/>
                    <a:pt x="17018" y="582422"/>
                  </a:cubicBezTo>
                  <a:cubicBezTo>
                    <a:pt x="7747" y="582422"/>
                    <a:pt x="0" y="574929"/>
                    <a:pt x="0" y="565531"/>
                  </a:cubicBezTo>
                  <a:cubicBezTo>
                    <a:pt x="0" y="556133"/>
                    <a:pt x="7620" y="548640"/>
                    <a:pt x="16891" y="548640"/>
                  </a:cubicBezTo>
                  <a:cubicBezTo>
                    <a:pt x="26162" y="548640"/>
                    <a:pt x="33782" y="556260"/>
                    <a:pt x="33782" y="565531"/>
                  </a:cubicBezTo>
                  <a:cubicBezTo>
                    <a:pt x="33782" y="859155"/>
                    <a:pt x="271780" y="1097280"/>
                    <a:pt x="565531" y="1097280"/>
                  </a:cubicBezTo>
                  <a:cubicBezTo>
                    <a:pt x="859155" y="1097280"/>
                    <a:pt x="1097280" y="859282"/>
                    <a:pt x="1097280" y="565531"/>
                  </a:cubicBezTo>
                  <a:cubicBezTo>
                    <a:pt x="1097280" y="271907"/>
                    <a:pt x="859282" y="33782"/>
                    <a:pt x="565531" y="33782"/>
                  </a:cubicBezTo>
                  <a:lnTo>
                    <a:pt x="565531" y="16891"/>
                  </a:lnTo>
                  <a:lnTo>
                    <a:pt x="565531" y="33909"/>
                  </a:lnTo>
                  <a:cubicBezTo>
                    <a:pt x="271907" y="33909"/>
                    <a:pt x="33909" y="271907"/>
                    <a:pt x="33909" y="565531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188720" y="6711696"/>
            <a:ext cx="822960" cy="822960"/>
            <a:chOff x="0" y="0"/>
            <a:chExt cx="1097280" cy="10972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2377440" y="6693408"/>
            <a:ext cx="14630400" cy="877824"/>
            <a:chOff x="0" y="0"/>
            <a:chExt cx="19507200" cy="117043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9507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950720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8FA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 spatiotemporal clusters identify distinct hotspot zones, each with a unique crime signature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04875" y="7982331"/>
            <a:ext cx="16478250" cy="1335786"/>
            <a:chOff x="0" y="0"/>
            <a:chExt cx="21971000" cy="178104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2700" y="12700"/>
              <a:ext cx="21945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62032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971000" cy="1781048"/>
            </a:xfrm>
            <a:custGeom>
              <a:avLst/>
              <a:gdLst/>
              <a:ahLst/>
              <a:cxnLst/>
              <a:rect r="r" b="b" t="t" l="l"/>
              <a:pathLst>
                <a:path h="1781048" w="21971000">
                  <a:moveTo>
                    <a:pt x="12700" y="0"/>
                  </a:moveTo>
                  <a:lnTo>
                    <a:pt x="21958300" y="0"/>
                  </a:lnTo>
                  <a:cubicBezTo>
                    <a:pt x="21965286" y="0"/>
                    <a:pt x="21971000" y="5715"/>
                    <a:pt x="21971000" y="12700"/>
                  </a:cubicBezTo>
                  <a:lnTo>
                    <a:pt x="21971000" y="1768348"/>
                  </a:lnTo>
                  <a:cubicBezTo>
                    <a:pt x="21971000" y="1775333"/>
                    <a:pt x="21965286" y="1781048"/>
                    <a:pt x="21958300" y="1781048"/>
                  </a:cubicBezTo>
                  <a:lnTo>
                    <a:pt x="12700" y="1781048"/>
                  </a:lnTo>
                  <a:cubicBezTo>
                    <a:pt x="5715" y="1781048"/>
                    <a:pt x="0" y="1775333"/>
                    <a:pt x="0" y="176834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68348"/>
                  </a:lnTo>
                  <a:lnTo>
                    <a:pt x="12700" y="1768348"/>
                  </a:lnTo>
                  <a:lnTo>
                    <a:pt x="12700" y="1755648"/>
                  </a:lnTo>
                  <a:lnTo>
                    <a:pt x="21958300" y="1755648"/>
                  </a:lnTo>
                  <a:lnTo>
                    <a:pt x="21958300" y="1768348"/>
                  </a:lnTo>
                  <a:lnTo>
                    <a:pt x="21945600" y="1768348"/>
                  </a:lnTo>
                  <a:lnTo>
                    <a:pt x="21945600" y="12700"/>
                  </a:lnTo>
                  <a:lnTo>
                    <a:pt x="21958300" y="12700"/>
                  </a:lnTo>
                  <a:lnTo>
                    <a:pt x="219583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76023" y="8216903"/>
            <a:ext cx="848363" cy="848363"/>
            <a:chOff x="0" y="0"/>
            <a:chExt cx="1131151" cy="113115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31062" cy="1131062"/>
            </a:xfrm>
            <a:custGeom>
              <a:avLst/>
              <a:gdLst/>
              <a:ahLst/>
              <a:cxnLst/>
              <a:rect r="r" b="b" t="t" l="l"/>
              <a:pathLst>
                <a:path h="1131062" w="1131062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lnTo>
                    <a:pt x="565531" y="16891"/>
                  </a:lnTo>
                  <a:lnTo>
                    <a:pt x="565531" y="0"/>
                  </a:lnTo>
                  <a:cubicBezTo>
                    <a:pt x="877951" y="0"/>
                    <a:pt x="1131062" y="253238"/>
                    <a:pt x="1131062" y="565531"/>
                  </a:cubicBezTo>
                  <a:lnTo>
                    <a:pt x="1114171" y="565531"/>
                  </a:lnTo>
                  <a:lnTo>
                    <a:pt x="1131062" y="565531"/>
                  </a:lnTo>
                  <a:cubicBezTo>
                    <a:pt x="1131062" y="877951"/>
                    <a:pt x="877824" y="1131062"/>
                    <a:pt x="565531" y="1131062"/>
                  </a:cubicBezTo>
                  <a:lnTo>
                    <a:pt x="565531" y="1114171"/>
                  </a:lnTo>
                  <a:lnTo>
                    <a:pt x="565531" y="1131062"/>
                  </a:lnTo>
                  <a:cubicBezTo>
                    <a:pt x="253238" y="1131189"/>
                    <a:pt x="0" y="877951"/>
                    <a:pt x="0" y="565531"/>
                  </a:cubicBezTo>
                  <a:lnTo>
                    <a:pt x="16891" y="565531"/>
                  </a:lnTo>
                  <a:lnTo>
                    <a:pt x="33909" y="565531"/>
                  </a:lnTo>
                  <a:lnTo>
                    <a:pt x="16891" y="565531"/>
                  </a:lnTo>
                  <a:lnTo>
                    <a:pt x="0" y="565531"/>
                  </a:lnTo>
                  <a:moveTo>
                    <a:pt x="33909" y="565531"/>
                  </a:moveTo>
                  <a:cubicBezTo>
                    <a:pt x="33909" y="574929"/>
                    <a:pt x="26289" y="582422"/>
                    <a:pt x="17018" y="582422"/>
                  </a:cubicBezTo>
                  <a:cubicBezTo>
                    <a:pt x="7747" y="582422"/>
                    <a:pt x="0" y="574929"/>
                    <a:pt x="0" y="565531"/>
                  </a:cubicBezTo>
                  <a:cubicBezTo>
                    <a:pt x="0" y="556133"/>
                    <a:pt x="7620" y="548640"/>
                    <a:pt x="16891" y="548640"/>
                  </a:cubicBezTo>
                  <a:cubicBezTo>
                    <a:pt x="26162" y="548640"/>
                    <a:pt x="33782" y="556260"/>
                    <a:pt x="33782" y="565531"/>
                  </a:cubicBezTo>
                  <a:cubicBezTo>
                    <a:pt x="33782" y="859155"/>
                    <a:pt x="271780" y="1097280"/>
                    <a:pt x="565531" y="1097280"/>
                  </a:cubicBezTo>
                  <a:cubicBezTo>
                    <a:pt x="859155" y="1097280"/>
                    <a:pt x="1097280" y="859282"/>
                    <a:pt x="1097280" y="565531"/>
                  </a:cubicBezTo>
                  <a:cubicBezTo>
                    <a:pt x="1097280" y="271907"/>
                    <a:pt x="859282" y="33782"/>
                    <a:pt x="565531" y="33782"/>
                  </a:cubicBezTo>
                  <a:lnTo>
                    <a:pt x="565531" y="16891"/>
                  </a:lnTo>
                  <a:lnTo>
                    <a:pt x="565531" y="33909"/>
                  </a:lnTo>
                  <a:cubicBezTo>
                    <a:pt x="271907" y="33909"/>
                    <a:pt x="33909" y="271907"/>
                    <a:pt x="33909" y="565531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188720" y="8229600"/>
            <a:ext cx="822960" cy="822960"/>
            <a:chOff x="0" y="0"/>
            <a:chExt cx="1097280" cy="10972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2377440" y="8211312"/>
            <a:ext cx="14630400" cy="877824"/>
            <a:chOff x="0" y="0"/>
            <a:chExt cx="19507200" cy="117043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95072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1950720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8FA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achieves AUC 0.84, F1 0.85 on 1.58M test records — operational-grade arrest predictor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14400" y="9326880"/>
            <a:ext cx="16459200" cy="640080"/>
            <a:chOff x="0" y="0"/>
            <a:chExt cx="21945600" cy="8534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 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DAHHUnYr04U</dc:identifier>
  <dcterms:modified xsi:type="dcterms:W3CDTF">2011-08-01T06:04:30Z</dcterms:modified>
  <cp:revision>1</cp:revision>
  <dc:title>Chicago_Crime_Analytics.pptx</dc:title>
</cp:coreProperties>
</file>